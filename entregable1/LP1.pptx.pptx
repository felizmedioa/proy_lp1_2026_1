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Calibri (MS)" charset="1" panose="020F0502020204030204"/>
      <p:regular r:id="rId30"/>
    </p:embeddedFont>
    <p:embeddedFont>
      <p:font typeface="Consolas" charset="1" panose="020B0609020204030204"/>
      <p:regular r:id="rId31"/>
    </p:embeddedFont>
    <p:embeddedFont>
      <p:font typeface="Consolas Bold" charset="1" panose="020B070902020403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9456" y="0"/>
            <a:ext cx="18068544" cy="146304"/>
            <a:chOff x="0" y="0"/>
            <a:chExt cx="24091392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91392" cy="195072"/>
            </a:xfrm>
            <a:custGeom>
              <a:avLst/>
              <a:gdLst/>
              <a:ahLst/>
              <a:cxnLst/>
              <a:rect r="r" b="b" t="t" l="l"/>
              <a:pathLst>
                <a:path h="195072" w="24091392">
                  <a:moveTo>
                    <a:pt x="0" y="0"/>
                  </a:moveTo>
                  <a:lnTo>
                    <a:pt x="24091392" y="0"/>
                  </a:lnTo>
                  <a:lnTo>
                    <a:pt x="2409139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1645920"/>
            <a:ext cx="16459200" cy="1554480"/>
            <a:chOff x="0" y="0"/>
            <a:chExt cx="21945600" cy="2072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94560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P11 — Mini Evaluador 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5840" y="3108960"/>
            <a:ext cx="16459200" cy="1554480"/>
            <a:chOff x="0" y="0"/>
            <a:chExt cx="21945600" cy="2072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220" r="0" b="-2352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2194560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Expresiones Algebraicas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4846320"/>
            <a:ext cx="16459200" cy="822960"/>
            <a:chOff x="0" y="0"/>
            <a:chExt cx="21945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945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Fundamentos de Intérpretes y Evaluador de Expresiones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5852160"/>
            <a:ext cx="11887200" cy="73152"/>
            <a:chOff x="0" y="0"/>
            <a:chExt cx="15849600" cy="975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0" cy="97536"/>
            </a:xfrm>
            <a:custGeom>
              <a:avLst/>
              <a:gdLst/>
              <a:ahLst/>
              <a:cxnLst/>
              <a:rect r="r" b="b" t="t" l="l"/>
              <a:pathLst>
                <a:path h="97536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6217920"/>
            <a:ext cx="8229600" cy="640080"/>
            <a:chOff x="0" y="0"/>
            <a:chExt cx="109728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7B9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 del equipo: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8814816"/>
            <a:ext cx="10972800" cy="585216"/>
            <a:chOff x="0" y="0"/>
            <a:chExt cx="146304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Rodrigo Matias Ortiz Montoya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7589520"/>
            <a:ext cx="10972800" cy="585216"/>
            <a:chOff x="0" y="0"/>
            <a:chExt cx="146304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Piero Mauro Morales Sinche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8229600"/>
            <a:ext cx="10972800" cy="585216"/>
            <a:chOff x="0" y="0"/>
            <a:chExt cx="1463040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Aldair Edgard Gutierrez Mamani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6931152"/>
            <a:ext cx="10972800" cy="585216"/>
            <a:chOff x="0" y="0"/>
            <a:chExt cx="1463040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Jose Luis Canchanya Ramos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0" y="4572000"/>
            <a:ext cx="5029200" cy="4754880"/>
            <a:chOff x="0" y="0"/>
            <a:chExt cx="6705600" cy="6339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93040" y="4663440"/>
            <a:ext cx="4846320" cy="4572000"/>
            <a:chOff x="0" y="0"/>
            <a:chExt cx="6461760" cy="609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61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46176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$ ./eval_math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&gt; sin(pi/2)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= 1.000000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&gt; x = 5 + 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= 7.718282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&gt; list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5840" y="9509760"/>
            <a:ext cx="16459200" cy="548640"/>
            <a:chOff x="0" y="0"/>
            <a:chExt cx="219456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B9E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Entregable 1 — Análisis y Diseño  |  27/04/2026 676767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10607040" cy="7863840"/>
            <a:chOff x="0" y="0"/>
            <a:chExt cx="14142720" cy="10485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4272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737360"/>
            <a:ext cx="10607040" cy="146304"/>
            <a:chOff x="0" y="0"/>
            <a:chExt cx="14142720" cy="195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42720" cy="195072"/>
            </a:xfrm>
            <a:custGeom>
              <a:avLst/>
              <a:gdLst/>
              <a:ahLst/>
              <a:cxnLst/>
              <a:rect r="r" b="b" t="t" l="l"/>
              <a:pathLst>
                <a:path h="19507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2011680"/>
            <a:ext cx="10241280" cy="640080"/>
            <a:chOff x="0" y="0"/>
            <a:chExt cx="1365504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55039" cy="853440"/>
            </a:xfrm>
            <a:custGeom>
              <a:avLst/>
              <a:gdLst/>
              <a:ahLst/>
              <a:cxnLst/>
              <a:rect r="r" b="b" t="t" l="l"/>
              <a:pathLst>
                <a:path h="85344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6550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es?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2779776"/>
            <a:ext cx="10241280" cy="2743200"/>
            <a:chOff x="0" y="0"/>
            <a:chExt cx="1365504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550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65504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Evaluador interactivo de expresiones algebraicas escrito en lenguaje C puro. Funciona como intérprete tipo REPL (Read-Eval-Print Loop) similar a GeoGebra. Construye un Árbol de Sintaxis Abstracta (AST) usando un Lexer y Parser de descenso recursivo desde cero, sin dependencias externas más allá de la biblioteca matemática estándar (-lm).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5669280"/>
            <a:ext cx="10241280" cy="640080"/>
            <a:chOff x="0" y="0"/>
            <a:chExt cx="136550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55039" cy="853440"/>
            </a:xfrm>
            <a:custGeom>
              <a:avLst/>
              <a:gdLst/>
              <a:ahLst/>
              <a:cxnLst/>
              <a:rect r="r" b="b" t="t" l="l"/>
              <a:pathLst>
                <a:path h="85344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6550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Herramientas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6400800"/>
            <a:ext cx="10058400" cy="585216"/>
            <a:chOff x="0" y="0"/>
            <a:chExt cx="1341120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41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GCC / Clang con -Wall -Wextra -lm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7040880"/>
            <a:ext cx="10058400" cy="585216"/>
            <a:chOff x="0" y="0"/>
            <a:chExt cx="1341120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41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GitHub con Makefile y CI automático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7680960"/>
            <a:ext cx="10058400" cy="585216"/>
            <a:chOff x="0" y="0"/>
            <a:chExt cx="1341120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41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Tests automáticos en cada push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70080" y="1828800"/>
            <a:ext cx="5669280" cy="2377440"/>
            <a:chOff x="0" y="0"/>
            <a:chExt cx="7559040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0080" y="2011680"/>
            <a:ext cx="5669280" cy="1097280"/>
            <a:chOff x="0" y="0"/>
            <a:chExt cx="7559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59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42875"/>
              <a:ext cx="7559040" cy="1605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70080" y="3017520"/>
            <a:ext cx="5669280" cy="548640"/>
            <a:chOff x="0" y="0"/>
            <a:chExt cx="75590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559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Operadores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70080" y="3566160"/>
            <a:ext cx="5669280" cy="457200"/>
            <a:chOff x="0" y="0"/>
            <a:chExt cx="755904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609600"/>
            </a:xfrm>
            <a:custGeom>
              <a:avLst/>
              <a:gdLst/>
              <a:ahLst/>
              <a:cxnLst/>
              <a:rect r="r" b="b" t="t" l="l"/>
              <a:pathLst>
                <a:path h="609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59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- * / ^ 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0080" y="4480560"/>
            <a:ext cx="5669280" cy="2377440"/>
            <a:chOff x="0" y="0"/>
            <a:chExt cx="7559040" cy="3169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0080" y="4663440"/>
            <a:ext cx="5669280" cy="1097280"/>
            <a:chOff x="0" y="0"/>
            <a:chExt cx="755904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42875"/>
              <a:ext cx="7559040" cy="1605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12+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70080" y="5669280"/>
            <a:ext cx="5669280" cy="548640"/>
            <a:chOff x="0" y="0"/>
            <a:chExt cx="75590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7559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70080" y="6217920"/>
            <a:ext cx="5669280" cy="457200"/>
            <a:chOff x="0" y="0"/>
            <a:chExt cx="755904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559040" cy="609600"/>
            </a:xfrm>
            <a:custGeom>
              <a:avLst/>
              <a:gdLst/>
              <a:ahLst/>
              <a:cxnLst/>
              <a:rect r="r" b="b" t="t" l="l"/>
              <a:pathLst>
                <a:path h="609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559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trig, log, rango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70080" y="7132320"/>
            <a:ext cx="5669280" cy="2377440"/>
            <a:chOff x="0" y="0"/>
            <a:chExt cx="7559040" cy="3169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0080" y="7315200"/>
            <a:ext cx="5669280" cy="1097280"/>
            <a:chOff x="0" y="0"/>
            <a:chExt cx="7559040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59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42875"/>
              <a:ext cx="7559040" cy="1605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070080" y="8321040"/>
            <a:ext cx="5669280" cy="548640"/>
            <a:chOff x="0" y="0"/>
            <a:chExt cx="755904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559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Módulos 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070080" y="8869680"/>
            <a:ext cx="5669280" cy="457200"/>
            <a:chOff x="0" y="0"/>
            <a:chExt cx="755904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559040" cy="609600"/>
            </a:xfrm>
            <a:custGeom>
              <a:avLst/>
              <a:gdLst/>
              <a:ahLst/>
              <a:cxnLst/>
              <a:rect r="r" b="b" t="t" l="l"/>
              <a:pathLst>
                <a:path h="6096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559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lexer, parser, eval...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 Funcionales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8412480" cy="2468880"/>
            <a:chOff x="0" y="0"/>
            <a:chExt cx="1121664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645920"/>
            <a:ext cx="146304" cy="2468880"/>
            <a:chOff x="0" y="0"/>
            <a:chExt cx="195072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1828800"/>
            <a:ext cx="1280160" cy="548640"/>
            <a:chOff x="0" y="0"/>
            <a:chExt cx="170688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2286000"/>
            <a:ext cx="7863840" cy="548640"/>
            <a:chOff x="0" y="0"/>
            <a:chExt cx="104851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Evaluación Aritmética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2834640"/>
            <a:ext cx="7955280" cy="1133856"/>
            <a:chOff x="0" y="0"/>
            <a:chExt cx="10607040" cy="15118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Operaciones: Suma +, Resta -, Multiplicación *, División /, Módulo %, Potencia ^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0" y="1645920"/>
            <a:ext cx="8412480" cy="2468880"/>
            <a:chOff x="0" y="0"/>
            <a:chExt cx="11216640" cy="3291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200" y="1645920"/>
            <a:ext cx="146304" cy="2468880"/>
            <a:chOff x="0" y="0"/>
            <a:chExt cx="195072" cy="3291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1828800"/>
            <a:ext cx="1280160" cy="548640"/>
            <a:chOff x="0" y="0"/>
            <a:chExt cx="17068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75520" y="2286000"/>
            <a:ext cx="7863840" cy="548640"/>
            <a:chOff x="0" y="0"/>
            <a:chExt cx="104851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Soporte de Variables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0" y="2834640"/>
            <a:ext cx="7955280" cy="1133856"/>
            <a:chOff x="0" y="0"/>
            <a:chExt cx="10607040" cy="1511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Asignación y reutilización de variables (a = x + y) en toda la sesión interactiva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1520" y="4480560"/>
            <a:ext cx="8412480" cy="2468880"/>
            <a:chOff x="0" y="0"/>
            <a:chExt cx="11216640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1520" y="4480560"/>
            <a:ext cx="146304" cy="2468880"/>
            <a:chOff x="0" y="0"/>
            <a:chExt cx="195072" cy="3291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" y="4663440"/>
            <a:ext cx="1280160" cy="548640"/>
            <a:chOff x="0" y="0"/>
            <a:chExt cx="17068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5120640"/>
            <a:ext cx="7863840" cy="548640"/>
            <a:chOff x="0" y="0"/>
            <a:chExt cx="104851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 Matemáticas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" y="5669280"/>
            <a:ext cx="7955280" cy="1133856"/>
            <a:chOff x="0" y="0"/>
            <a:chExt cx="10607040" cy="15118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exp, sqrt, pow | log, log2, log10 | sin, cos, tan, asin, acos, atan, atan2 | max, min, abs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0" y="4480560"/>
            <a:ext cx="8412480" cy="2468880"/>
            <a:chOff x="0" y="0"/>
            <a:chExt cx="11216640" cy="329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01200" y="4480560"/>
            <a:ext cx="146304" cy="2468880"/>
            <a:chOff x="0" y="0"/>
            <a:chExt cx="195072" cy="3291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875520" y="4663440"/>
            <a:ext cx="1280160" cy="548640"/>
            <a:chOff x="0" y="0"/>
            <a:chExt cx="17068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75520" y="5120640"/>
            <a:ext cx="7863840" cy="548640"/>
            <a:chOff x="0" y="0"/>
            <a:chExt cx="104851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Manejo de Excepciones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5669280"/>
            <a:ext cx="7955280" cy="1133856"/>
            <a:chOff x="0" y="0"/>
            <a:chExt cx="10607040" cy="15118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de división por cero y errores de dominio sin colgar la aplicación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1520" y="7315200"/>
            <a:ext cx="8412480" cy="2468880"/>
            <a:chOff x="0" y="0"/>
            <a:chExt cx="11216640" cy="3291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31520" y="7315200"/>
            <a:ext cx="146304" cy="2468880"/>
            <a:chOff x="0" y="0"/>
            <a:chExt cx="195072" cy="3291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5840" y="7498080"/>
            <a:ext cx="1280160" cy="548640"/>
            <a:chOff x="0" y="0"/>
            <a:chExt cx="170688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5840" y="7955280"/>
            <a:ext cx="7863840" cy="548640"/>
            <a:chOff x="0" y="0"/>
            <a:chExt cx="104851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Configuración Angular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5840" y="8503920"/>
            <a:ext cx="7955280" cy="1133856"/>
            <a:chOff x="0" y="0"/>
            <a:chExt cx="10607040" cy="151180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Cambio de unidad entre Radianes y Grados mediante comandos rad / deg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01200" y="7315200"/>
            <a:ext cx="8412480" cy="2468880"/>
            <a:chOff x="0" y="0"/>
            <a:chExt cx="11216640" cy="3291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01200" y="7315200"/>
            <a:ext cx="146304" cy="2468880"/>
            <a:chOff x="0" y="0"/>
            <a:chExt cx="195072" cy="3291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875520" y="7498080"/>
            <a:ext cx="1280160" cy="548640"/>
            <a:chOff x="0" y="0"/>
            <a:chExt cx="17068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RF6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7955280"/>
            <a:ext cx="7863840" cy="548640"/>
            <a:chOff x="0" y="0"/>
            <a:chExt cx="104851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Entorno REPL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75520" y="8503920"/>
            <a:ext cx="7955280" cy="1133856"/>
            <a:chOff x="0" y="0"/>
            <a:chExt cx="1060704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07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709" r="0" b="-8670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6070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Ciclo Read-Eval-Print-Loop con comandos list (ver variables) y quit / exit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 No Funcionales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828800"/>
            <a:ext cx="8229600" cy="3657600"/>
            <a:chOff x="0" y="0"/>
            <a:chExt cx="10972800" cy="487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828800"/>
            <a:ext cx="8229600" cy="128016"/>
            <a:chOff x="0" y="0"/>
            <a:chExt cx="10972800" cy="1706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103120"/>
            <a:ext cx="7680960" cy="731520"/>
            <a:chOff x="0" y="0"/>
            <a:chExt cx="102412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◈  Restricción de Bibliotecas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2926080"/>
            <a:ext cx="7589520" cy="640080"/>
            <a:chOff x="0" y="0"/>
            <a:chExt cx="101193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Solo ANSI C nativa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657600"/>
            <a:ext cx="7589520" cy="640080"/>
            <a:chOff x="0" y="0"/>
            <a:chExt cx="1011936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stdio.h, stdlib.h, string.h, math.h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4389120"/>
            <a:ext cx="7589520" cy="640080"/>
            <a:chOff x="0" y="0"/>
            <a:chExt cx="1011936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Sin dependencias externas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0" y="1828800"/>
            <a:ext cx="8229600" cy="3657600"/>
            <a:chOff x="0" y="0"/>
            <a:chExt cx="10972800" cy="487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09760" y="1828800"/>
            <a:ext cx="8229600" cy="128016"/>
            <a:chOff x="0" y="0"/>
            <a:chExt cx="10972800" cy="170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84080" y="2103120"/>
            <a:ext cx="7680960" cy="731520"/>
            <a:chOff x="0" y="0"/>
            <a:chExt cx="102412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⬡  Arquitectura Modular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0" y="2926080"/>
            <a:ext cx="7589520" cy="640080"/>
            <a:chOff x="0" y="0"/>
            <a:chExt cx="1011936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Separación limpia: Lexer, Parser, AST, Eval, CLI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3657600"/>
            <a:ext cx="7589520" cy="640080"/>
            <a:chOff x="0" y="0"/>
            <a:chExt cx="1011936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Fácilmente extensible y mantenible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75520" y="4389120"/>
            <a:ext cx="7589520" cy="640080"/>
            <a:chOff x="0" y="0"/>
            <a:chExt cx="1011936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Sujeta a tests exhaustivos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1520" y="5943600"/>
            <a:ext cx="8229600" cy="3657600"/>
            <a:chOff x="0" y="0"/>
            <a:chExt cx="10972800" cy="4876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5943600"/>
            <a:ext cx="8229600" cy="128016"/>
            <a:chOff x="0" y="0"/>
            <a:chExt cx="10972800" cy="170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6217920"/>
            <a:ext cx="7680960" cy="731520"/>
            <a:chOff x="0" y="0"/>
            <a:chExt cx="1024128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Rendimiento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7040880"/>
            <a:ext cx="7589520" cy="640080"/>
            <a:chOff x="0" y="0"/>
            <a:chExt cx="1011936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Evaluación casi instantánea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7772400"/>
            <a:ext cx="7589520" cy="640080"/>
            <a:chOff x="0" y="0"/>
            <a:chExt cx="101193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Overhead mínimo en C nativo, no hay mucha carga al equipo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8503920"/>
            <a:ext cx="7589520" cy="640080"/>
            <a:chOff x="0" y="0"/>
            <a:chExt cx="101193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Ideal para máquinas con pocos recursos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9760" y="5943600"/>
            <a:ext cx="8229600" cy="3657600"/>
            <a:chOff x="0" y="0"/>
            <a:chExt cx="10972800" cy="4876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09760" y="5943600"/>
            <a:ext cx="8229600" cy="128016"/>
            <a:chOff x="0" y="0"/>
            <a:chExt cx="10972800" cy="1706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84080" y="6217920"/>
            <a:ext cx="7680960" cy="731520"/>
            <a:chOff x="0" y="0"/>
            <a:chExt cx="1024128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FA8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  Robustez y Seguridad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75520" y="7040880"/>
            <a:ext cx="7589520" cy="640080"/>
            <a:chOff x="0" y="0"/>
            <a:chExt cx="1011936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Gestión de memory leaks con free_ast(), libera la memoria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75520" y="7772400"/>
            <a:ext cx="7589520" cy="640080"/>
            <a:chOff x="0" y="0"/>
            <a:chExt cx="1011936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1193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119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No crashea ante errores de dominio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8503920"/>
            <a:ext cx="7589520" cy="799188"/>
            <a:chOff x="0" y="0"/>
            <a:chExt cx="10119360" cy="106558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119360" cy="1065585"/>
            </a:xfrm>
            <a:custGeom>
              <a:avLst/>
              <a:gdLst/>
              <a:ahLst/>
              <a:cxnLst/>
              <a:rect r="r" b="b" t="t" l="l"/>
              <a:pathLst>
                <a:path h="106558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65585"/>
                  </a:lnTo>
                  <a:lnTo>
                    <a:pt x="0" y="10655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994" r="0" b="-12508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119360" cy="1113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Banderas de error controladas (eval_error), similar a un try catch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Gramática Formal — EBNF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0058400" cy="8046720"/>
            <a:chOff x="0" y="0"/>
            <a:chExt cx="13411200" cy="1072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828800"/>
            <a:ext cx="9509760" cy="7680960"/>
            <a:chOff x="0" y="0"/>
            <a:chExt cx="12679680" cy="10241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796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0"/>
                  </a:lnTo>
                  <a:lnTo>
                    <a:pt x="0" y="10241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629" t="0" r="-5362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679680" cy="1028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Expression  ::= Assign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Assign      ::= IDENTIFIER "=" Assign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|   AddSub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AddSub      ::= MulDivMod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{ ("+" | "-") MulDivMod }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MulDivMod   ::= Power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{ ("*" | "/" | "%") Power }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Power       ::= Unary { "^" Power }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Unary       ::= ("+"|"-") Unary | Primary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Primary     ::= NUMBER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|   "(" Assign ")"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|   IDENTIFIER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|   IDENTIFIER "("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[ Assign { "," Assign } ] ")"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55680" y="1645920"/>
            <a:ext cx="6583680" cy="8046720"/>
            <a:chOff x="0" y="0"/>
            <a:chExt cx="8778240" cy="1072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55680" y="1645920"/>
            <a:ext cx="6583680" cy="128016"/>
            <a:chOff x="0" y="0"/>
            <a:chExt cx="8778240" cy="1706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170688"/>
            </a:xfrm>
            <a:custGeom>
              <a:avLst/>
              <a:gdLst/>
              <a:ahLst/>
              <a:cxnLst/>
              <a:rect r="r" b="b" t="t" l="l"/>
              <a:pathLst>
                <a:path h="1706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38560" y="1828800"/>
            <a:ext cx="6217920" cy="640080"/>
            <a:chOff x="0" y="0"/>
            <a:chExt cx="82905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853440"/>
            </a:xfrm>
            <a:custGeom>
              <a:avLst/>
              <a:gdLst/>
              <a:ahLst/>
              <a:cxnLst/>
              <a:rect r="r" b="b" t="t" l="l"/>
              <a:pathLst>
                <a:path h="8534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2905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Notas de Precedencia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38560" y="2743200"/>
            <a:ext cx="2743200" cy="731520"/>
            <a:chOff x="0" y="0"/>
            <a:chExt cx="36576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 Mayor prec.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73200" y="2743200"/>
            <a:ext cx="3291840" cy="731520"/>
            <a:chOff x="0" y="0"/>
            <a:chExt cx="43891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Potencia (^)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38560" y="3749040"/>
            <a:ext cx="2743200" cy="731520"/>
            <a:chOff x="0" y="0"/>
            <a:chExt cx="36576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Media prec.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73200" y="3749040"/>
            <a:ext cx="3291840" cy="731520"/>
            <a:chOff x="0" y="0"/>
            <a:chExt cx="438912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* / 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38560" y="4754880"/>
            <a:ext cx="2743200" cy="731520"/>
            <a:chOff x="0" y="0"/>
            <a:chExt cx="365760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Media prec.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173200" y="4754880"/>
            <a:ext cx="3291840" cy="731520"/>
            <a:chOff x="0" y="0"/>
            <a:chExt cx="438912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-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38560" y="5760720"/>
            <a:ext cx="2743200" cy="731520"/>
            <a:chOff x="0" y="0"/>
            <a:chExt cx="365760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Menor prec.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173200" y="5760720"/>
            <a:ext cx="3291840" cy="731520"/>
            <a:chOff x="0" y="0"/>
            <a:chExt cx="438912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Asignación (=)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6766560"/>
            <a:ext cx="2743200" cy="731520"/>
            <a:chOff x="0" y="0"/>
            <a:chExt cx="365760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Asociatividad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173200" y="6766560"/>
            <a:ext cx="3291840" cy="731520"/>
            <a:chOff x="0" y="0"/>
            <a:chExt cx="438912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Potencia y = → derecha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338560" y="7772400"/>
            <a:ext cx="2743200" cy="731520"/>
            <a:chOff x="0" y="0"/>
            <a:chExt cx="365760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173200" y="7772400"/>
            <a:ext cx="3291840" cy="731520"/>
            <a:chOff x="0" y="0"/>
            <a:chExt cx="438912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891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 y + aplicados antes de Primary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4400" y="1323975"/>
            <a:ext cx="164592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Texto del párrafo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6231" y="0"/>
            <a:ext cx="13155539" cy="9751543"/>
          </a:xfrm>
          <a:custGeom>
            <a:avLst/>
            <a:gdLst/>
            <a:ahLst/>
            <a:cxnLst/>
            <a:rect r="r" b="b" t="t" l="l"/>
            <a:pathLst>
              <a:path h="9751543" w="13155539">
                <a:moveTo>
                  <a:pt x="0" y="0"/>
                </a:moveTo>
                <a:lnTo>
                  <a:pt x="13155538" y="0"/>
                </a:lnTo>
                <a:lnTo>
                  <a:pt x="13155538" y="9751543"/>
                </a:lnTo>
                <a:lnTo>
                  <a:pt x="0" y="9751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9443" y="2865769"/>
            <a:ext cx="15799857" cy="4325211"/>
          </a:xfrm>
          <a:custGeom>
            <a:avLst/>
            <a:gdLst/>
            <a:ahLst/>
            <a:cxnLst/>
            <a:rect r="r" b="b" t="t" l="l"/>
            <a:pathLst>
              <a:path h="4325211" w="15799857">
                <a:moveTo>
                  <a:pt x="0" y="0"/>
                </a:moveTo>
                <a:lnTo>
                  <a:pt x="15799857" y="0"/>
                </a:lnTo>
                <a:lnTo>
                  <a:pt x="15799857" y="4325211"/>
                </a:lnTo>
                <a:lnTo>
                  <a:pt x="0" y="4325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03398" cy="10397920"/>
          </a:xfrm>
          <a:custGeom>
            <a:avLst/>
            <a:gdLst/>
            <a:ahLst/>
            <a:cxnLst/>
            <a:rect r="r" b="b" t="t" l="l"/>
            <a:pathLst>
              <a:path h="10397920" w="18403398">
                <a:moveTo>
                  <a:pt x="0" y="0"/>
                </a:moveTo>
                <a:lnTo>
                  <a:pt x="18403398" y="0"/>
                </a:lnTo>
                <a:lnTo>
                  <a:pt x="18403398" y="10397920"/>
                </a:lnTo>
                <a:lnTo>
                  <a:pt x="0" y="1039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5528" y="284483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Pipeline: Lexer → Parser → Evaluador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3272" y="1920240"/>
            <a:ext cx="2834640" cy="1828800"/>
            <a:chOff x="0" y="0"/>
            <a:chExt cx="377952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95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3272" y="2103120"/>
            <a:ext cx="2834640" cy="731520"/>
            <a:chOff x="0" y="0"/>
            <a:chExt cx="377952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3272" y="2926080"/>
            <a:ext cx="2834640" cy="640080"/>
            <a:chOff x="0" y="0"/>
            <a:chExt cx="377952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779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fgets(stdin)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67912" y="2688336"/>
            <a:ext cx="512064" cy="128016"/>
            <a:chOff x="0" y="0"/>
            <a:chExt cx="682752" cy="170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" cy="170688"/>
            </a:xfrm>
            <a:custGeom>
              <a:avLst/>
              <a:gdLst/>
              <a:ahLst/>
              <a:cxnLst/>
              <a:rect r="r" b="b" t="t" l="l"/>
              <a:pathLst>
                <a:path h="170688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928491" y="2468880"/>
            <a:ext cx="457200" cy="640080"/>
            <a:chOff x="0" y="0"/>
            <a:chExt cx="6096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79976" y="1920240"/>
            <a:ext cx="2834640" cy="1828800"/>
            <a:chOff x="0" y="0"/>
            <a:chExt cx="3779520" cy="243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95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379976" y="2103120"/>
            <a:ext cx="2834640" cy="731520"/>
            <a:chOff x="0" y="0"/>
            <a:chExt cx="37795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LEXER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79976" y="2926080"/>
            <a:ext cx="2834640" cy="640080"/>
            <a:chOff x="0" y="0"/>
            <a:chExt cx="377952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79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lexer.c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14616" y="2688336"/>
            <a:ext cx="512064" cy="128016"/>
            <a:chOff x="0" y="0"/>
            <a:chExt cx="682752" cy="1706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" cy="170688"/>
            </a:xfrm>
            <a:custGeom>
              <a:avLst/>
              <a:gdLst/>
              <a:ahLst/>
              <a:cxnLst/>
              <a:rect r="r" b="b" t="t" l="l"/>
              <a:pathLst>
                <a:path h="170688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71766" y="2468880"/>
            <a:ext cx="457200" cy="640080"/>
            <a:chOff x="0" y="0"/>
            <a:chExt cx="6096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726680" y="1920240"/>
            <a:ext cx="2834640" cy="1828800"/>
            <a:chOff x="0" y="0"/>
            <a:chExt cx="3779520" cy="243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795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726680" y="2103120"/>
            <a:ext cx="2834640" cy="731520"/>
            <a:chOff x="0" y="0"/>
            <a:chExt cx="377952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26680" y="2926080"/>
            <a:ext cx="2834640" cy="640080"/>
            <a:chOff x="0" y="0"/>
            <a:chExt cx="377952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779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parser.c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561320" y="2688336"/>
            <a:ext cx="512064" cy="128016"/>
            <a:chOff x="0" y="0"/>
            <a:chExt cx="682752" cy="170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" cy="170688"/>
            </a:xfrm>
            <a:custGeom>
              <a:avLst/>
              <a:gdLst/>
              <a:ahLst/>
              <a:cxnLst/>
              <a:rect r="r" b="b" t="t" l="l"/>
              <a:pathLst>
                <a:path h="170688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618470" y="2468880"/>
            <a:ext cx="457200" cy="640080"/>
            <a:chOff x="0" y="0"/>
            <a:chExt cx="60960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073384" y="1920240"/>
            <a:ext cx="2834640" cy="1828800"/>
            <a:chOff x="0" y="0"/>
            <a:chExt cx="377952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795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073384" y="2103120"/>
            <a:ext cx="2834640" cy="731520"/>
            <a:chOff x="0" y="0"/>
            <a:chExt cx="377952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073384" y="2926080"/>
            <a:ext cx="2834640" cy="640080"/>
            <a:chOff x="0" y="0"/>
            <a:chExt cx="377952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7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779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eval.c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908024" y="2688336"/>
            <a:ext cx="512064" cy="128016"/>
            <a:chOff x="0" y="0"/>
            <a:chExt cx="682752" cy="1706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2752" cy="170688"/>
            </a:xfrm>
            <a:custGeom>
              <a:avLst/>
              <a:gdLst/>
              <a:ahLst/>
              <a:cxnLst/>
              <a:rect r="r" b="b" t="t" l="l"/>
              <a:pathLst>
                <a:path h="170688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965174" y="2468880"/>
            <a:ext cx="457200" cy="640080"/>
            <a:chOff x="0" y="0"/>
            <a:chExt cx="60960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0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420088" y="1920240"/>
            <a:ext cx="2834640" cy="1828800"/>
            <a:chOff x="0" y="0"/>
            <a:chExt cx="3779520" cy="2438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7795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20088" y="2103120"/>
            <a:ext cx="2834640" cy="731520"/>
            <a:chOff x="0" y="0"/>
            <a:chExt cx="377952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420088" y="2926080"/>
            <a:ext cx="2834640" cy="640080"/>
            <a:chOff x="0" y="0"/>
            <a:chExt cx="377952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77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779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EE9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printf()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33272" y="4114800"/>
            <a:ext cx="2834640" cy="5486400"/>
            <a:chOff x="0" y="0"/>
            <a:chExt cx="3779520" cy="7315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33272" y="4114800"/>
            <a:ext cx="2834640" cy="91440"/>
            <a:chOff x="0" y="0"/>
            <a:chExt cx="3779520" cy="1219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779520" cy="121920"/>
            </a:xfrm>
            <a:custGeom>
              <a:avLst/>
              <a:gdLst/>
              <a:ahLst/>
              <a:cxnLst/>
              <a:rect r="r" b="b" t="t" l="l"/>
              <a:pathLst>
                <a:path h="1219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9576" y="4297680"/>
            <a:ext cx="2542032" cy="5212080"/>
            <a:chOff x="0" y="0"/>
            <a:chExt cx="3389376" cy="6949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89376" cy="6949440"/>
            </a:xfrm>
            <a:custGeom>
              <a:avLst/>
              <a:gdLst/>
              <a:ahLst/>
              <a:cxnLst/>
              <a:rect r="r" b="b" t="t" l="l"/>
              <a:pathLst>
                <a:path h="6949440" w="3389376">
                  <a:moveTo>
                    <a:pt x="0" y="0"/>
                  </a:moveTo>
                  <a:lnTo>
                    <a:pt x="3389376" y="0"/>
                  </a:lnTo>
                  <a:lnTo>
                    <a:pt x="3389376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068" t="0" r="-21306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3389376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Texto plano ingresado por usuario en consola REPL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379976" y="4114800"/>
            <a:ext cx="2834640" cy="5486400"/>
            <a:chOff x="0" y="0"/>
            <a:chExt cx="3779520" cy="7315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379976" y="4114800"/>
            <a:ext cx="2834640" cy="91440"/>
            <a:chOff x="0" y="0"/>
            <a:chExt cx="3779520" cy="1219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779520" cy="121920"/>
            </a:xfrm>
            <a:custGeom>
              <a:avLst/>
              <a:gdLst/>
              <a:ahLst/>
              <a:cxnLst/>
              <a:rect r="r" b="b" t="t" l="l"/>
              <a:pathLst>
                <a:path h="1219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526280" y="4297680"/>
            <a:ext cx="2542032" cy="5212080"/>
            <a:chOff x="0" y="0"/>
            <a:chExt cx="3389376" cy="6949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89376" cy="6949440"/>
            </a:xfrm>
            <a:custGeom>
              <a:avLst/>
              <a:gdLst/>
              <a:ahLst/>
              <a:cxnLst/>
              <a:rect r="r" b="b" t="t" l="l"/>
              <a:pathLst>
                <a:path h="6949440" w="3389376">
                  <a:moveTo>
                    <a:pt x="0" y="0"/>
                  </a:moveTo>
                  <a:lnTo>
                    <a:pt x="3389376" y="0"/>
                  </a:lnTo>
                  <a:lnTo>
                    <a:pt x="3389376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068" t="0" r="-213068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3389376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Tokeniza: números, identificadores, operadores. Descarta espacios.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726680" y="4114800"/>
            <a:ext cx="2834640" cy="5486400"/>
            <a:chOff x="0" y="0"/>
            <a:chExt cx="3779520" cy="7315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726680" y="4114800"/>
            <a:ext cx="2834640" cy="91440"/>
            <a:chOff x="0" y="0"/>
            <a:chExt cx="3779520" cy="1219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79520" cy="121920"/>
            </a:xfrm>
            <a:custGeom>
              <a:avLst/>
              <a:gdLst/>
              <a:ahLst/>
              <a:cxnLst/>
              <a:rect r="r" b="b" t="t" l="l"/>
              <a:pathLst>
                <a:path h="1219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872984" y="4297680"/>
            <a:ext cx="2542032" cy="5212080"/>
            <a:chOff x="0" y="0"/>
            <a:chExt cx="3389376" cy="6949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89376" cy="6949440"/>
            </a:xfrm>
            <a:custGeom>
              <a:avLst/>
              <a:gdLst/>
              <a:ahLst/>
              <a:cxnLst/>
              <a:rect r="r" b="b" t="t" l="l"/>
              <a:pathLst>
                <a:path h="6949440" w="3389376">
                  <a:moveTo>
                    <a:pt x="0" y="0"/>
                  </a:moveTo>
                  <a:lnTo>
                    <a:pt x="3389376" y="0"/>
                  </a:lnTo>
                  <a:lnTo>
                    <a:pt x="3389376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068" t="0" r="-213068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3389376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Descenso recursivo según EBNF. Construye el AST con nodos tipados.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073384" y="4114800"/>
            <a:ext cx="2834640" cy="5486400"/>
            <a:chOff x="0" y="0"/>
            <a:chExt cx="3779520" cy="7315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073384" y="4114800"/>
            <a:ext cx="2834640" cy="91440"/>
            <a:chOff x="0" y="0"/>
            <a:chExt cx="3779520" cy="1219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79520" cy="121920"/>
            </a:xfrm>
            <a:custGeom>
              <a:avLst/>
              <a:gdLst/>
              <a:ahLst/>
              <a:cxnLst/>
              <a:rect r="r" b="b" t="t" l="l"/>
              <a:pathLst>
                <a:path h="1219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219688" y="4297680"/>
            <a:ext cx="2542032" cy="5212080"/>
            <a:chOff x="0" y="0"/>
            <a:chExt cx="3389376" cy="69494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389376" cy="6949440"/>
            </a:xfrm>
            <a:custGeom>
              <a:avLst/>
              <a:gdLst/>
              <a:ahLst/>
              <a:cxnLst/>
              <a:rect r="r" b="b" t="t" l="l"/>
              <a:pathLst>
                <a:path h="6949440" w="3389376">
                  <a:moveTo>
                    <a:pt x="0" y="0"/>
                  </a:moveTo>
                  <a:lnTo>
                    <a:pt x="3389376" y="0"/>
                  </a:lnTo>
                  <a:lnTo>
                    <a:pt x="3389376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068" t="0" r="-213068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389376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Recorre el AST en post-orden. Resuelve variables (symtable) y funciones.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420088" y="4114800"/>
            <a:ext cx="2834640" cy="5486400"/>
            <a:chOff x="0" y="0"/>
            <a:chExt cx="3779520" cy="7315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420088" y="4114800"/>
            <a:ext cx="2834640" cy="91440"/>
            <a:chOff x="0" y="0"/>
            <a:chExt cx="3779520" cy="1219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779520" cy="121920"/>
            </a:xfrm>
            <a:custGeom>
              <a:avLst/>
              <a:gdLst/>
              <a:ahLst/>
              <a:cxnLst/>
              <a:rect r="r" b="b" t="t" l="l"/>
              <a:pathLst>
                <a:path h="1219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566392" y="4297680"/>
            <a:ext cx="2542032" cy="5212080"/>
            <a:chOff x="0" y="0"/>
            <a:chExt cx="3389376" cy="69494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89376" cy="6949440"/>
            </a:xfrm>
            <a:custGeom>
              <a:avLst/>
              <a:gdLst/>
              <a:ahLst/>
              <a:cxnLst/>
              <a:rect r="r" b="b" t="t" l="l"/>
              <a:pathLst>
                <a:path h="6949440" w="3389376">
                  <a:moveTo>
                    <a:pt x="0" y="0"/>
                  </a:moveTo>
                  <a:lnTo>
                    <a:pt x="3389376" y="0"/>
                  </a:lnTo>
                  <a:lnTo>
                    <a:pt x="3389376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068" t="0" r="-213068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3389376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Imprime resultado double o mensaje de error descriptivo.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 — Estructuras 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645920"/>
            <a:ext cx="8229600" cy="8229600"/>
            <a:chOff x="0" y="0"/>
            <a:chExt cx="109728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1645920"/>
            <a:ext cx="8229600" cy="128016"/>
            <a:chOff x="0" y="0"/>
            <a:chExt cx="10972800" cy="1706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792224"/>
            <a:ext cx="7863840" cy="901489"/>
            <a:chOff x="0" y="0"/>
            <a:chExt cx="10485120" cy="12019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1201986"/>
            </a:xfrm>
            <a:custGeom>
              <a:avLst/>
              <a:gdLst/>
              <a:ahLst/>
              <a:cxnLst/>
              <a:rect r="r" b="b" t="t" l="l"/>
              <a:pathLst>
                <a:path h="120198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01986"/>
                  </a:lnTo>
                  <a:lnTo>
                    <a:pt x="0" y="1201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69" r="0" b="-1054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1259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5FA8D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struct ASTNode (Árbol de Sintaxis Abstracta)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2560320"/>
            <a:ext cx="3797560" cy="3435888"/>
            <a:chOff x="0" y="0"/>
            <a:chExt cx="10241280" cy="926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0"/>
                  </a:lnTo>
                  <a:lnTo>
                    <a:pt x="0" y="926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41280" cy="931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ASTNodeType  type;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union {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  value;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  TokenType op;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};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char         name[32];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ASTNode*     left;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ASTNode*     right;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ASTNode**    args;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int          num_args;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1645920"/>
            <a:ext cx="8595360" cy="3474720"/>
            <a:chOff x="0" y="0"/>
            <a:chExt cx="11460480" cy="463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1645920"/>
            <a:ext cx="8595360" cy="128016"/>
            <a:chOff x="0" y="0"/>
            <a:chExt cx="1146048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35440" y="1792224"/>
            <a:ext cx="8229600" cy="640080"/>
            <a:chOff x="0" y="0"/>
            <a:chExt cx="1097280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FA8D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struct Symbol  (x100)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0" y="3244029"/>
            <a:ext cx="2613867" cy="772279"/>
            <a:chOff x="0" y="0"/>
            <a:chExt cx="10728960" cy="3169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72896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char   name[32];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double value;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0" y="5486400"/>
            <a:ext cx="8595360" cy="4206240"/>
            <a:chOff x="0" y="0"/>
            <a:chExt cx="11460480" cy="5608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6048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0" y="5486400"/>
            <a:ext cx="8595360" cy="128016"/>
            <a:chOff x="0" y="0"/>
            <a:chExt cx="11460480" cy="170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60480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26880" y="5632704"/>
            <a:ext cx="8229600" cy="640080"/>
            <a:chOff x="0" y="0"/>
            <a:chExt cx="1097280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FA8D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FuncEntry (callback table)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719376" y="6255463"/>
            <a:ext cx="6190084" cy="3399633"/>
          </a:xfrm>
          <a:custGeom>
            <a:avLst/>
            <a:gdLst/>
            <a:ahLst/>
            <a:cxnLst/>
            <a:rect r="r" b="b" t="t" l="l"/>
            <a:pathLst>
              <a:path h="3399633" w="6190084">
                <a:moveTo>
                  <a:pt x="0" y="0"/>
                </a:moveTo>
                <a:lnTo>
                  <a:pt x="6190083" y="0"/>
                </a:lnTo>
                <a:lnTo>
                  <a:pt x="6190083" y="3399634"/>
                </a:lnTo>
                <a:lnTo>
                  <a:pt x="0" y="3399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326880" y="6400800"/>
            <a:ext cx="8046720" cy="3108960"/>
            <a:chOff x="0" y="0"/>
            <a:chExt cx="10728960" cy="4145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89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728960" cy="4192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char*    name;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int      num_args;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MathFunc1 fn1;  // f(x)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EE9E8"/>
                  </a:solidFill>
                  <a:latin typeface="Consolas"/>
                  <a:ea typeface="Consolas"/>
                  <a:cs typeface="Consolas"/>
                  <a:sym typeface="Consolas"/>
                </a:rPr>
                <a:t>MathFunc2 fn2;  // f(x,y)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813126" y="2242969"/>
            <a:ext cx="4743354" cy="2723753"/>
          </a:xfrm>
          <a:custGeom>
            <a:avLst/>
            <a:gdLst/>
            <a:ahLst/>
            <a:cxnLst/>
            <a:rect r="r" b="b" t="t" l="l"/>
            <a:pathLst>
              <a:path h="2723753" w="4743354">
                <a:moveTo>
                  <a:pt x="0" y="0"/>
                </a:moveTo>
                <a:lnTo>
                  <a:pt x="4743354" y="0"/>
                </a:lnTo>
                <a:lnTo>
                  <a:pt x="4743354" y="2723753"/>
                </a:lnTo>
                <a:lnTo>
                  <a:pt x="0" y="2723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626" r="0" b="-23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 — El Nodo del AST (ASTNode)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4360" y="1452985"/>
            <a:ext cx="8321040" cy="2468880"/>
            <a:chOff x="0" y="0"/>
            <a:chExt cx="1109472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4360" y="1452985"/>
            <a:ext cx="128016" cy="2468880"/>
            <a:chOff x="0" y="0"/>
            <a:chExt cx="170688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680" y="1633579"/>
            <a:ext cx="7680960" cy="518703"/>
            <a:chOff x="0" y="0"/>
            <a:chExt cx="10241280" cy="691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estión Eficiente (Union)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1540" y="2206910"/>
            <a:ext cx="7772400" cy="1097280"/>
            <a:chOff x="0" y="0"/>
            <a:chExt cx="103632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Aho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rra memoria compartiendo el mismo espacio para almacenar un literal (double value) o un operador (TokenType op).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72600" y="1452985"/>
            <a:ext cx="8321040" cy="2468880"/>
            <a:chOff x="0" y="0"/>
            <a:chExt cx="11094720" cy="3291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72600" y="1452985"/>
            <a:ext cx="128016" cy="2468880"/>
            <a:chOff x="0" y="0"/>
            <a:chExt cx="170688" cy="3291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38360" y="1633579"/>
            <a:ext cx="7680960" cy="518703"/>
            <a:chOff x="0" y="0"/>
            <a:chExt cx="10241280" cy="6916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Soport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Multi-argumento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38360" y="2206910"/>
            <a:ext cx="7772400" cy="1097280"/>
            <a:chOff x="0" y="0"/>
            <a:chExt cx="1036320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ia dinámica con **args (sub arbol) y num_args(número de argumentos) para funciones complejas (como max o atan2).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4360" y="4287625"/>
            <a:ext cx="8321040" cy="2468880"/>
            <a:chOff x="0" y="0"/>
            <a:chExt cx="11094720" cy="329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" y="4287625"/>
            <a:ext cx="128016" cy="2468880"/>
            <a:chOff x="0" y="0"/>
            <a:chExt cx="170688" cy="3291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8680" y="4449169"/>
            <a:ext cx="7680960" cy="518703"/>
            <a:chOff x="0" y="0"/>
            <a:chExt cx="10241280" cy="6916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ributos de Texto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1540" y="5196472"/>
            <a:ext cx="7772400" cy="1360829"/>
            <a:chOff x="0" y="0"/>
            <a:chExt cx="10363200" cy="18144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63200" cy="1814438"/>
            </a:xfrm>
            <a:custGeom>
              <a:avLst/>
              <a:gdLst/>
              <a:ahLst/>
              <a:cxnLst/>
              <a:rect r="r" b="b" t="t" l="l"/>
              <a:pathLst>
                <a:path h="181443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14438"/>
                  </a:lnTo>
                  <a:lnTo>
                    <a:pt x="0" y="1814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72" r="0" b="-516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363200" cy="1862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arreglo de tamaño fijo char name[32] reservado para nombres de variables o funciones.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72600" y="4287625"/>
            <a:ext cx="8321040" cy="2468880"/>
            <a:chOff x="0" y="0"/>
            <a:chExt cx="11094720" cy="329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72600" y="4287625"/>
            <a:ext cx="128016" cy="2468880"/>
            <a:chOff x="0" y="0"/>
            <a:chExt cx="170688" cy="3291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46920" y="4455265"/>
            <a:ext cx="7680960" cy="518703"/>
            <a:chOff x="0" y="0"/>
            <a:chExt cx="10241280" cy="6916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teros de Recursión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69780" y="5202025"/>
            <a:ext cx="7772400" cy="1360829"/>
            <a:chOff x="0" y="0"/>
            <a:chExt cx="10363200" cy="18144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63200" cy="1814438"/>
            </a:xfrm>
            <a:custGeom>
              <a:avLst/>
              <a:gdLst/>
              <a:ahLst/>
              <a:cxnLst/>
              <a:rect r="r" b="b" t="t" l="l"/>
              <a:pathLst>
                <a:path h="181443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14438"/>
                  </a:lnTo>
                  <a:lnTo>
                    <a:pt x="0" y="1814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72" r="0" b="-516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363200" cy="1862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enlaces left y right que permiten construir el árbol binario hacia abajo.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4360" y="6813655"/>
            <a:ext cx="17099280" cy="3154479"/>
            <a:chOff x="0" y="0"/>
            <a:chExt cx="22799040" cy="42059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99039" cy="4205972"/>
            </a:xfrm>
            <a:custGeom>
              <a:avLst/>
              <a:gdLst/>
              <a:ahLst/>
              <a:cxnLst/>
              <a:rect r="r" b="b" t="t" l="l"/>
              <a:pathLst>
                <a:path h="4205972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4205972"/>
                  </a:lnTo>
                  <a:lnTo>
                    <a:pt x="0" y="42059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81036" y="6813655"/>
            <a:ext cx="282680" cy="3154479"/>
            <a:chOff x="0" y="0"/>
            <a:chExt cx="350754" cy="3914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0754" cy="3914140"/>
            </a:xfrm>
            <a:custGeom>
              <a:avLst/>
              <a:gdLst/>
              <a:ahLst/>
              <a:cxnLst/>
              <a:rect r="r" b="b" t="t" l="l"/>
              <a:pathLst>
                <a:path h="3914140" w="350754">
                  <a:moveTo>
                    <a:pt x="0" y="0"/>
                  </a:moveTo>
                  <a:lnTo>
                    <a:pt x="350754" y="0"/>
                  </a:lnTo>
                  <a:lnTo>
                    <a:pt x="350754" y="3914140"/>
                  </a:lnTo>
                  <a:lnTo>
                    <a:pt x="0" y="39141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" y="6813655"/>
            <a:ext cx="15783951" cy="518703"/>
            <a:chOff x="0" y="0"/>
            <a:chExt cx="21045268" cy="6916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045267" cy="691604"/>
            </a:xfrm>
            <a:custGeom>
              <a:avLst/>
              <a:gdLst/>
              <a:ahLst/>
              <a:cxnLst/>
              <a:rect r="r" b="b" t="t" l="l"/>
              <a:pathLst>
                <a:path h="691604" w="21045267">
                  <a:moveTo>
                    <a:pt x="0" y="0"/>
                  </a:moveTo>
                  <a:lnTo>
                    <a:pt x="21045267" y="0"/>
                  </a:lnTo>
                  <a:lnTo>
                    <a:pt x="21045267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51336" b="-2378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1045268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Tipología del Nodo (ASTNodeType)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63716" y="6937480"/>
            <a:ext cx="15971855" cy="3246779"/>
            <a:chOff x="0" y="0"/>
            <a:chExt cx="21295807" cy="43290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295807" cy="4329038"/>
            </a:xfrm>
            <a:custGeom>
              <a:avLst/>
              <a:gdLst/>
              <a:ahLst/>
              <a:cxnLst/>
              <a:rect r="r" b="b" t="t" l="l"/>
              <a:pathLst>
                <a:path h="4329038" w="21295807">
                  <a:moveTo>
                    <a:pt x="0" y="0"/>
                  </a:moveTo>
                  <a:lnTo>
                    <a:pt x="21295807" y="0"/>
                  </a:lnTo>
                  <a:lnTo>
                    <a:pt x="21295807" y="4329038"/>
                  </a:lnTo>
                  <a:lnTo>
                    <a:pt x="0" y="4329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46" r="51336" b="3645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1295807" cy="4376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Hojas (Datos sin hijos):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AST_N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UMBER: Contiene un valor flotante directo.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AST_VAR: Contiene el nombre de una variable para buscarla en la tabla de símbolos.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Ramas (Operaciones con hijos):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AST_BINOP: Operador binario (ej. suma, resta) que procesa left op right.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AST_UNOP: Operador unario (ej. signo negativo) que procesa op left.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AST_FUNC: Llamada a función que ejecuta un nombre usando el arreglo de args[].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AST_ASSIGN: Operación de guardado de estado (nombre = right).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626" r="0" b="-23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 de Símbolos — Memoria de Estado y Variables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4360" y="1452985"/>
            <a:ext cx="8321040" cy="2468880"/>
            <a:chOff x="0" y="0"/>
            <a:chExt cx="1109472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4360" y="1452985"/>
            <a:ext cx="128016" cy="2468880"/>
            <a:chOff x="0" y="0"/>
            <a:chExt cx="170688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680" y="1633579"/>
            <a:ext cx="7680960" cy="518703"/>
            <a:chOff x="0" y="0"/>
            <a:chExt cx="10241280" cy="691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Arr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eglo Estático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1540" y="2206910"/>
            <a:ext cx="7772400" cy="1097280"/>
            <a:chOff x="0" y="0"/>
            <a:chExt cx="103632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mplementada utilizando un arreglo global de tamaño fijo (symbol_table) con un límite máximo de 100 elementos (MAX_VARIABLES).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72600" y="1452985"/>
            <a:ext cx="8321040" cy="2468880"/>
            <a:chOff x="0" y="0"/>
            <a:chExt cx="11094720" cy="3291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72600" y="1452985"/>
            <a:ext cx="128016" cy="2468880"/>
            <a:chOff x="0" y="0"/>
            <a:chExt cx="170688" cy="3291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38360" y="1633579"/>
            <a:ext cx="7680960" cy="518703"/>
            <a:chOff x="0" y="0"/>
            <a:chExt cx="10241280" cy="6916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untero de Estado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92640" y="1892931"/>
            <a:ext cx="7772400" cy="1097280"/>
            <a:chOff x="0" y="0"/>
            <a:chExt cx="1036320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iza un contador interno (symbol_count) para llevar el registro exacto de cuántas variables están activas en la sesión actual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4360" y="4287625"/>
            <a:ext cx="8321040" cy="2468880"/>
            <a:chOff x="0" y="0"/>
            <a:chExt cx="11094720" cy="329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" y="4287625"/>
            <a:ext cx="128016" cy="2468880"/>
            <a:chOff x="0" y="0"/>
            <a:chExt cx="170688" cy="3291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8680" y="4449169"/>
            <a:ext cx="7680960" cy="518703"/>
            <a:chOff x="0" y="0"/>
            <a:chExt cx="10241280" cy="6916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osición del Símbolo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5025022"/>
            <a:ext cx="7772400" cy="1097280"/>
            <a:chOff x="0" y="0"/>
            <a:chExt cx="103632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ranura almacena una estructura Symbol que contiene un identificador de texto (char name[32]) y su valor numérico asociado (double value).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72600" y="4287625"/>
            <a:ext cx="8321040" cy="2468880"/>
            <a:chOff x="0" y="0"/>
            <a:chExt cx="11094720" cy="329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72600" y="4287625"/>
            <a:ext cx="128016" cy="2468880"/>
            <a:chOff x="0" y="0"/>
            <a:chExt cx="170688" cy="3291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46920" y="4455265"/>
            <a:ext cx="7680960" cy="518703"/>
            <a:chOff x="0" y="0"/>
            <a:chExt cx="10241280" cy="6916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scritura Inteligente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46920" y="5025022"/>
            <a:ext cx="7772400" cy="1097280"/>
            <a:chOff x="0" y="0"/>
            <a:chExt cx="1036320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procesar un nodo de asignación (ej. a = 5), el sistema primero busca si la variable ya existe para actualizarla; si no, la agrega en la siguiente posición libre.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4360" y="6813655"/>
            <a:ext cx="17099280" cy="3154479"/>
            <a:chOff x="0" y="0"/>
            <a:chExt cx="22799040" cy="42059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99039" cy="4205972"/>
            </a:xfrm>
            <a:custGeom>
              <a:avLst/>
              <a:gdLst/>
              <a:ahLst/>
              <a:cxnLst/>
              <a:rect r="r" b="b" t="t" l="l"/>
              <a:pathLst>
                <a:path h="4205972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4205972"/>
                  </a:lnTo>
                  <a:lnTo>
                    <a:pt x="0" y="42059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81036" y="6813655"/>
            <a:ext cx="282680" cy="3154479"/>
            <a:chOff x="0" y="0"/>
            <a:chExt cx="350754" cy="3914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0754" cy="3914140"/>
            </a:xfrm>
            <a:custGeom>
              <a:avLst/>
              <a:gdLst/>
              <a:ahLst/>
              <a:cxnLst/>
              <a:rect r="r" b="b" t="t" l="l"/>
              <a:pathLst>
                <a:path h="3914140" w="350754">
                  <a:moveTo>
                    <a:pt x="0" y="0"/>
                  </a:moveTo>
                  <a:lnTo>
                    <a:pt x="350754" y="0"/>
                  </a:lnTo>
                  <a:lnTo>
                    <a:pt x="350754" y="3914140"/>
                  </a:lnTo>
                  <a:lnTo>
                    <a:pt x="0" y="39141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" y="6813655"/>
            <a:ext cx="15783951" cy="518703"/>
            <a:chOff x="0" y="0"/>
            <a:chExt cx="21045268" cy="6916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045267" cy="691604"/>
            </a:xfrm>
            <a:custGeom>
              <a:avLst/>
              <a:gdLst/>
              <a:ahLst/>
              <a:cxnLst/>
              <a:rect r="r" b="b" t="t" l="l"/>
              <a:pathLst>
                <a:path h="691604" w="21045267">
                  <a:moveTo>
                    <a:pt x="0" y="0"/>
                  </a:moveTo>
                  <a:lnTo>
                    <a:pt x="21045267" y="0"/>
                  </a:lnTo>
                  <a:lnTo>
                    <a:pt x="21045267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51336" b="-2378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1045268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 Symtable: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8700" y="6937480"/>
            <a:ext cx="15971855" cy="3030654"/>
            <a:chOff x="0" y="0"/>
            <a:chExt cx="21295807" cy="40408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295807" cy="4040872"/>
            </a:xfrm>
            <a:custGeom>
              <a:avLst/>
              <a:gdLst/>
              <a:ahLst/>
              <a:cxnLst/>
              <a:rect r="r" b="b" t="t" l="l"/>
              <a:pathLst>
                <a:path h="4040872" w="21295807">
                  <a:moveTo>
                    <a:pt x="0" y="0"/>
                  </a:moveTo>
                  <a:lnTo>
                    <a:pt x="21295807" y="0"/>
                  </a:lnTo>
                  <a:lnTo>
                    <a:pt x="21295807" y="4040872"/>
                  </a:lnTo>
                  <a:lnTo>
                    <a:pt x="0" y="4040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68" r="51336" b="319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1295807" cy="4088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symtable_init(): Se invoca una única vez al arrancar el programa, p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epara la tabla para su uso e inserta internamente las dos constantes matemáticas predefinidas (pi y e) llamando a su vez a symtable_set.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symtable_list(): Esto ocurre cuando el usuario teclea exactamente el comando list en la consola, se llama desde el main.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symtable_get(): Cuando el evaluador está recorriendo el árbol y se topa con una variable (como a), detiene el cálculo momentáneamente e invoca symtable_get(node-&gt;name, &amp;val) para buscar cuánto vale a.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symtable_set(): Cuando el usuario escribe una asignación como x = 5 + 3, el evaluador primero resuelve el lado derecho (que da 8). Inmediatamente después, llama a symtable_set(node-&gt;name, val) para inyectar o actualizar ese número 8 bajo el nombre x dentro del arreglo global.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272034"/>
            <a:ext cx="17373600" cy="1123801"/>
            <a:chOff x="0" y="0"/>
            <a:chExt cx="231648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626" r="5263" b="-23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31648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 de Callbacks (FuncEntry) — Extensibilidad sin if/else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4360" y="1452985"/>
            <a:ext cx="18236023" cy="2468880"/>
            <a:chOff x="0" y="0"/>
            <a:chExt cx="24314697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14697" cy="3291840"/>
            </a:xfrm>
            <a:custGeom>
              <a:avLst/>
              <a:gdLst/>
              <a:ahLst/>
              <a:cxnLst/>
              <a:rect r="r" b="b" t="t" l="l"/>
              <a:pathLst>
                <a:path h="3291840" w="24314697">
                  <a:moveTo>
                    <a:pt x="0" y="0"/>
                  </a:moveTo>
                  <a:lnTo>
                    <a:pt x="24314697" y="0"/>
                  </a:lnTo>
                  <a:lnTo>
                    <a:pt x="24314697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4360" y="1452985"/>
            <a:ext cx="128016" cy="2468880"/>
            <a:chOff x="0" y="0"/>
            <a:chExt cx="170688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680" y="1633579"/>
            <a:ext cx="7680960" cy="518703"/>
            <a:chOff x="0" y="0"/>
            <a:chExt cx="10241280" cy="691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Estructura d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Enrutamiento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2376" y="2152282"/>
            <a:ext cx="16678264" cy="1675154"/>
            <a:chOff x="0" y="0"/>
            <a:chExt cx="22237685" cy="22335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37684" cy="2233538"/>
            </a:xfrm>
            <a:custGeom>
              <a:avLst/>
              <a:gdLst/>
              <a:ahLst/>
              <a:cxnLst/>
              <a:rect r="r" b="b" t="t" l="l"/>
              <a:pathLst>
                <a:path h="2233538" w="22237684">
                  <a:moveTo>
                    <a:pt x="0" y="0"/>
                  </a:moveTo>
                  <a:lnTo>
                    <a:pt x="22237684" y="0"/>
                  </a:lnTo>
                  <a:lnTo>
                    <a:pt x="22237684" y="2233538"/>
                  </a:lnTo>
                  <a:lnTo>
                    <a:pt x="0" y="22335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55" r="53398" b="-231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237685" cy="2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lde (FuncEntry): Es una estructura que asocia un nombre de texto ingresado por el usuario con la dirección de memoria de la función matemática real que debe ejecutar el procesador.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Atributos de Identificación: Contiene char name[16] para el texto (ej. "sin", "max") y int num_args para validar cuántos parámetros requiere (1 o 2).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Punteros a Función: Utiliza los tipos personalizados MathFunc1 (para funciones de un argumento como sin(x)) y MathFunc2 (para funciones de dos argumentos como max(a, b)).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141776" y="4159990"/>
            <a:ext cx="6815729" cy="5287201"/>
          </a:xfrm>
          <a:custGeom>
            <a:avLst/>
            <a:gdLst/>
            <a:ahLst/>
            <a:cxnLst/>
            <a:rect r="r" b="b" t="t" l="l"/>
            <a:pathLst>
              <a:path h="5287201" w="6815729">
                <a:moveTo>
                  <a:pt x="0" y="0"/>
                </a:moveTo>
                <a:lnTo>
                  <a:pt x="6815728" y="0"/>
                </a:lnTo>
                <a:lnTo>
                  <a:pt x="6815728" y="5287201"/>
                </a:lnTo>
                <a:lnTo>
                  <a:pt x="0" y="5287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272034"/>
            <a:ext cx="17373600" cy="1123801"/>
            <a:chOff x="0" y="0"/>
            <a:chExt cx="231648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626" r="5263" b="-23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31648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 de Callbacks (FuncEntry) — Extensibilidad sin if/else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4360" y="1395835"/>
            <a:ext cx="16664940" cy="2468880"/>
            <a:chOff x="0" y="0"/>
            <a:chExt cx="2221992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19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4360" y="1395835"/>
            <a:ext cx="128016" cy="2468880"/>
            <a:chOff x="0" y="0"/>
            <a:chExt cx="170688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680" y="1557379"/>
            <a:ext cx="7680960" cy="518703"/>
            <a:chOff x="0" y="0"/>
            <a:chExt cx="10241280" cy="691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0" b="-2378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Tabla E</a:t>
              </a: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stática (func_table)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2376" y="1932387"/>
            <a:ext cx="16154283" cy="1675154"/>
            <a:chOff x="0" y="0"/>
            <a:chExt cx="21539044" cy="22335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39043" cy="2233538"/>
            </a:xfrm>
            <a:custGeom>
              <a:avLst/>
              <a:gdLst/>
              <a:ahLst/>
              <a:cxnLst/>
              <a:rect r="r" b="b" t="t" l="l"/>
              <a:pathLst>
                <a:path h="2233538" w="21539043">
                  <a:moveTo>
                    <a:pt x="0" y="0"/>
                  </a:moveTo>
                  <a:lnTo>
                    <a:pt x="21539043" y="0"/>
                  </a:lnTo>
                  <a:lnTo>
                    <a:pt x="21539043" y="2233538"/>
                  </a:lnTo>
                  <a:lnTo>
                    <a:pt x="0" y="22335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55" r="51886" b="-231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539044" cy="2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lugar de tener una función gigante con 16 bloques if / else if comparando strings, el sistema utiliza un arreglo global func_table[].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ranura del arreglo es un FuncEntry que empareja el texto con la función nativa de &lt;math.h&gt; o con funciones "wrapper" personalizadas (ej. f_sin, f_max).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Extensibilidad Máxima: Para agregar una nueva función al evaluador, no se necesita reescribir la lógica del sistema; basta con agregar una sola línea en este arreglo.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299980" y="4026640"/>
            <a:ext cx="4499319" cy="5934622"/>
          </a:xfrm>
          <a:custGeom>
            <a:avLst/>
            <a:gdLst/>
            <a:ahLst/>
            <a:cxnLst/>
            <a:rect r="r" b="b" t="t" l="l"/>
            <a:pathLst>
              <a:path h="5934622" w="4499319">
                <a:moveTo>
                  <a:pt x="0" y="0"/>
                </a:moveTo>
                <a:lnTo>
                  <a:pt x="4499320" y="0"/>
                </a:lnTo>
                <a:lnTo>
                  <a:pt x="4499320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272034"/>
            <a:ext cx="17373600" cy="1123801"/>
            <a:chOff x="0" y="0"/>
            <a:chExt cx="231648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626" r="5263" b="-23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31648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Tabla de Callbacks (FuncEntry) — Extensibilidad sin if/else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7200" y="1395835"/>
            <a:ext cx="16664940" cy="2468880"/>
            <a:chOff x="0" y="0"/>
            <a:chExt cx="2221992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19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94825" y="1491085"/>
            <a:ext cx="15783951" cy="518703"/>
            <a:chOff x="0" y="0"/>
            <a:chExt cx="21045268" cy="691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45267" cy="691604"/>
            </a:xfrm>
            <a:custGeom>
              <a:avLst/>
              <a:gdLst/>
              <a:ahLst/>
              <a:cxnLst/>
              <a:rect r="r" b="b" t="t" l="l"/>
              <a:pathLst>
                <a:path h="691604" w="21045267">
                  <a:moveTo>
                    <a:pt x="0" y="0"/>
                  </a:moveTo>
                  <a:lnTo>
                    <a:pt x="21045267" y="0"/>
                  </a:lnTo>
                  <a:lnTo>
                    <a:pt x="21045267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74" r="51336" b="-2378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045268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Ejecución Segura (call_function)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8521" y="2066938"/>
            <a:ext cx="15971855" cy="1129464"/>
            <a:chOff x="0" y="0"/>
            <a:chExt cx="21295807" cy="15059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95807" cy="1505952"/>
            </a:xfrm>
            <a:custGeom>
              <a:avLst/>
              <a:gdLst/>
              <a:ahLst/>
              <a:cxnLst/>
              <a:rect r="r" b="b" t="t" l="l"/>
              <a:pathLst>
                <a:path h="1505952" w="21295807">
                  <a:moveTo>
                    <a:pt x="0" y="0"/>
                  </a:moveTo>
                  <a:lnTo>
                    <a:pt x="21295807" y="0"/>
                  </a:lnTo>
                  <a:lnTo>
                    <a:pt x="21295807" y="1505952"/>
                  </a:lnTo>
                  <a:lnTo>
                    <a:pt x="0" y="1505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10" r="51336" b="-82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295807" cy="1553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Cuando el AST necesita evaluar una función, el módulo eval.c delega el trabajo a call_function.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 función busca el nombre en la tabla, verifica que el nú</a:t>
              </a: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mero de argumentos coincida exactamente (func_table[i].num_args != num_args), y luego ejecuta la matemática llamando al puntero correspondiente (func1 o func2)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3192" y="1395835"/>
            <a:ext cx="128016" cy="2468880"/>
            <a:chOff x="0" y="0"/>
            <a:chExt cx="170688" cy="3291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493371" y="3974961"/>
            <a:ext cx="11301259" cy="5283339"/>
          </a:xfrm>
          <a:custGeom>
            <a:avLst/>
            <a:gdLst/>
            <a:ahLst/>
            <a:cxnLst/>
            <a:rect r="r" b="b" t="t" l="l"/>
            <a:pathLst>
              <a:path h="5283339" w="11301259">
                <a:moveTo>
                  <a:pt x="0" y="0"/>
                </a:moveTo>
                <a:lnTo>
                  <a:pt x="11301258" y="0"/>
                </a:lnTo>
                <a:lnTo>
                  <a:pt x="11301258" y="5283339"/>
                </a:lnTo>
                <a:lnTo>
                  <a:pt x="0" y="5283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 de Uso del Sistema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82496"/>
            <a:ext cx="8321040" cy="2468880"/>
            <a:chOff x="0" y="0"/>
            <a:chExt cx="1109472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682496"/>
            <a:ext cx="128016" cy="2468880"/>
            <a:chOff x="0" y="0"/>
            <a:chExt cx="170688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1828800"/>
            <a:ext cx="7680960" cy="512064"/>
            <a:chOff x="0" y="0"/>
            <a:chExt cx="102412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CU-01 — Usuario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2340864"/>
            <a:ext cx="7680960" cy="512064"/>
            <a:chOff x="0" y="0"/>
            <a:chExt cx="1024128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Evaluar expresión aritmética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2889504"/>
            <a:ext cx="7772400" cy="1097280"/>
            <a:chOff x="0" y="0"/>
            <a:chExt cx="1036320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Ingresa expresión, el sistema tokeniza, parsea y retorna el resultado numérico.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9760" y="1682496"/>
            <a:ext cx="8321040" cy="2468880"/>
            <a:chOff x="0" y="0"/>
            <a:chExt cx="11094720" cy="3291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09760" y="1682496"/>
            <a:ext cx="128016" cy="2468880"/>
            <a:chOff x="0" y="0"/>
            <a:chExt cx="170688" cy="3291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84080" y="1828800"/>
            <a:ext cx="7680960" cy="512064"/>
            <a:chOff x="0" y="0"/>
            <a:chExt cx="1024128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CU-02 — Usuario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4080" y="2340864"/>
            <a:ext cx="7680960" cy="512064"/>
            <a:chOff x="0" y="0"/>
            <a:chExt cx="1024128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Definir variable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84080" y="2889504"/>
            <a:ext cx="7772400" cy="1097280"/>
            <a:chOff x="0" y="0"/>
            <a:chExt cx="1036320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 un valor o expresión a una variable para reutilizar en la sesión.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1520" y="4517136"/>
            <a:ext cx="8321040" cy="2468880"/>
            <a:chOff x="0" y="0"/>
            <a:chExt cx="11094720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1520" y="4517136"/>
            <a:ext cx="128016" cy="2468880"/>
            <a:chOff x="0" y="0"/>
            <a:chExt cx="170688" cy="3291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" y="4663440"/>
            <a:ext cx="7680960" cy="512064"/>
            <a:chOff x="0" y="0"/>
            <a:chExt cx="102412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CU-03 — Usuario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5175504"/>
            <a:ext cx="7680960" cy="512064"/>
            <a:chOff x="0" y="0"/>
            <a:chExt cx="102412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Llamar función matemática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" y="5724144"/>
            <a:ext cx="7772400" cy="1097280"/>
            <a:chOff x="0" y="0"/>
            <a:chExt cx="1036320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Invoca funciones como sin(), log(), max() con argumentos evaluados.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09760" y="4517136"/>
            <a:ext cx="8321040" cy="2468880"/>
            <a:chOff x="0" y="0"/>
            <a:chExt cx="11094720" cy="329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09760" y="4517136"/>
            <a:ext cx="128016" cy="2468880"/>
            <a:chOff x="0" y="0"/>
            <a:chExt cx="170688" cy="3291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84080" y="4663440"/>
            <a:ext cx="7680960" cy="512064"/>
            <a:chOff x="0" y="0"/>
            <a:chExt cx="1024128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CU-04 — Usuario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784080" y="5175504"/>
            <a:ext cx="7680960" cy="512064"/>
            <a:chOff x="0" y="0"/>
            <a:chExt cx="1024128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Cambiar modo angular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84080" y="5724144"/>
            <a:ext cx="7772400" cy="1097280"/>
            <a:chOff x="0" y="0"/>
            <a:chExt cx="1036320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Alterna entre radianes y grados con comandos rad / deg.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1520" y="7351776"/>
            <a:ext cx="8321040" cy="2468880"/>
            <a:chOff x="0" y="0"/>
            <a:chExt cx="11094720" cy="3291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31520" y="7351776"/>
            <a:ext cx="128016" cy="2468880"/>
            <a:chOff x="0" y="0"/>
            <a:chExt cx="170688" cy="3291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5840" y="7498080"/>
            <a:ext cx="7680960" cy="512064"/>
            <a:chOff x="0" y="0"/>
            <a:chExt cx="1024128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CU-05 — Sistema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5840" y="8010144"/>
            <a:ext cx="7680960" cy="512064"/>
            <a:chOff x="0" y="0"/>
            <a:chExt cx="1024128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Reportar error descriptivo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5840" y="8558784"/>
            <a:ext cx="7772400" cy="1097280"/>
            <a:chOff x="0" y="0"/>
            <a:chExt cx="1036320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Detecta y comunica errores de dominio, sintaxis o división por cero sin crashear.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09760" y="7351776"/>
            <a:ext cx="8321040" cy="2468880"/>
            <a:chOff x="0" y="0"/>
            <a:chExt cx="11094720" cy="3291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947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09760" y="7351776"/>
            <a:ext cx="128016" cy="2468880"/>
            <a:chOff x="0" y="0"/>
            <a:chExt cx="170688" cy="3291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84080" y="7498080"/>
            <a:ext cx="7680960" cy="512064"/>
            <a:chOff x="0" y="0"/>
            <a:chExt cx="102412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CU-06 — Usuario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4080" y="8010144"/>
            <a:ext cx="7680960" cy="512064"/>
            <a:chOff x="0" y="0"/>
            <a:chExt cx="102412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Listar variables guardadas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4080" y="8558784"/>
            <a:ext cx="7772400" cy="1097280"/>
            <a:chOff x="0" y="0"/>
            <a:chExt cx="1036320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3632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Comando list muestra el estado de la tabla de símbolos en tiempo real.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329184"/>
            <a:ext cx="17190720" cy="1005840"/>
            <a:chOff x="0" y="0"/>
            <a:chExt cx="2292096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9209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— Evaluar Expresión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7200" y="1609344"/>
            <a:ext cx="2194560" cy="822960"/>
            <a:chOff x="0" y="0"/>
            <a:chExt cx="29260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7200" y="1700784"/>
            <a:ext cx="2194560" cy="640080"/>
            <a:chOff x="0" y="0"/>
            <a:chExt cx="292608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1783" y="2419607"/>
            <a:ext cx="25403" cy="8437883"/>
            <a:chOff x="0" y="0"/>
            <a:chExt cx="33871" cy="11250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17520" y="1609344"/>
            <a:ext cx="2194560" cy="822960"/>
            <a:chOff x="0" y="0"/>
            <a:chExt cx="29260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17520" y="1700784"/>
            <a:ext cx="2194560" cy="640080"/>
            <a:chOff x="0" y="0"/>
            <a:chExt cx="29260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main.c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02103" y="2419607"/>
            <a:ext cx="25403" cy="8437883"/>
            <a:chOff x="0" y="0"/>
            <a:chExt cx="33871" cy="11250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0" y="1609344"/>
            <a:ext cx="2194560" cy="822960"/>
            <a:chOff x="0" y="0"/>
            <a:chExt cx="29260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0" y="1700784"/>
            <a:ext cx="2194560" cy="640080"/>
            <a:chOff x="0" y="0"/>
            <a:chExt cx="292608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lexer.c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70983" y="2419607"/>
            <a:ext cx="25403" cy="8437883"/>
            <a:chOff x="0" y="0"/>
            <a:chExt cx="33871" cy="112505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55280" y="1609344"/>
            <a:ext cx="2194560" cy="822960"/>
            <a:chOff x="0" y="0"/>
            <a:chExt cx="29260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955280" y="1700784"/>
            <a:ext cx="2194560" cy="640080"/>
            <a:chOff x="0" y="0"/>
            <a:chExt cx="29260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parser.c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39863" y="2419607"/>
            <a:ext cx="25403" cy="8437883"/>
            <a:chOff x="0" y="0"/>
            <a:chExt cx="33871" cy="11250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24160" y="1609344"/>
            <a:ext cx="2194560" cy="822960"/>
            <a:chOff x="0" y="0"/>
            <a:chExt cx="29260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24160" y="1700784"/>
            <a:ext cx="2194560" cy="640080"/>
            <a:chOff x="0" y="0"/>
            <a:chExt cx="29260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eval.c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08743" y="2419607"/>
            <a:ext cx="25403" cy="8437883"/>
            <a:chOff x="0" y="0"/>
            <a:chExt cx="33871" cy="11250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893040" y="1609344"/>
            <a:ext cx="2194560" cy="822960"/>
            <a:chOff x="0" y="0"/>
            <a:chExt cx="29260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93040" y="1700784"/>
            <a:ext cx="2194560" cy="640080"/>
            <a:chOff x="0" y="0"/>
            <a:chExt cx="292608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symtable.c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77623" y="2419607"/>
            <a:ext cx="25403" cy="8437883"/>
            <a:chOff x="0" y="0"/>
            <a:chExt cx="33871" cy="112505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18796"/>
              <a:ext cx="33909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33909">
                  <a:moveTo>
                    <a:pt x="33909" y="235204"/>
                  </a:moveTo>
                  <a:lnTo>
                    <a:pt x="33909" y="336804"/>
                  </a:lnTo>
                  <a:lnTo>
                    <a:pt x="0" y="336804"/>
                  </a:lnTo>
                  <a:lnTo>
                    <a:pt x="0" y="235204"/>
                  </a:lnTo>
                  <a:close/>
                  <a:moveTo>
                    <a:pt x="0" y="472313"/>
                  </a:moveTo>
                  <a:lnTo>
                    <a:pt x="0" y="573913"/>
                  </a:lnTo>
                  <a:lnTo>
                    <a:pt x="0" y="472313"/>
                  </a:lnTo>
                  <a:close/>
                  <a:moveTo>
                    <a:pt x="0" y="709422"/>
                  </a:moveTo>
                  <a:lnTo>
                    <a:pt x="0" y="811022"/>
                  </a:lnTo>
                  <a:lnTo>
                    <a:pt x="0" y="709422"/>
                  </a:lnTo>
                  <a:close/>
                  <a:moveTo>
                    <a:pt x="33909" y="946404"/>
                  </a:moveTo>
                  <a:lnTo>
                    <a:pt x="33909" y="1048004"/>
                  </a:lnTo>
                  <a:lnTo>
                    <a:pt x="0" y="1048004"/>
                  </a:lnTo>
                  <a:lnTo>
                    <a:pt x="0" y="946404"/>
                  </a:lnTo>
                  <a:close/>
                  <a:moveTo>
                    <a:pt x="0" y="1183513"/>
                  </a:moveTo>
                  <a:lnTo>
                    <a:pt x="0" y="1285113"/>
                  </a:lnTo>
                  <a:lnTo>
                    <a:pt x="0" y="1183513"/>
                  </a:lnTo>
                  <a:close/>
                  <a:moveTo>
                    <a:pt x="0" y="1420622"/>
                  </a:moveTo>
                  <a:lnTo>
                    <a:pt x="0" y="1522222"/>
                  </a:lnTo>
                  <a:lnTo>
                    <a:pt x="0" y="1420622"/>
                  </a:lnTo>
                  <a:close/>
                  <a:moveTo>
                    <a:pt x="0" y="1657731"/>
                  </a:moveTo>
                  <a:lnTo>
                    <a:pt x="0" y="1759331"/>
                  </a:lnTo>
                  <a:lnTo>
                    <a:pt x="0" y="1657731"/>
                  </a:lnTo>
                  <a:close/>
                  <a:moveTo>
                    <a:pt x="0" y="1894840"/>
                  </a:moveTo>
                  <a:lnTo>
                    <a:pt x="0" y="1996440"/>
                  </a:lnTo>
                  <a:lnTo>
                    <a:pt x="0" y="1894840"/>
                  </a:lnTo>
                  <a:close/>
                  <a:moveTo>
                    <a:pt x="0" y="2131949"/>
                  </a:moveTo>
                  <a:lnTo>
                    <a:pt x="0" y="2233549"/>
                  </a:lnTo>
                  <a:lnTo>
                    <a:pt x="0" y="2131949"/>
                  </a:lnTo>
                  <a:close/>
                  <a:moveTo>
                    <a:pt x="0" y="2369058"/>
                  </a:moveTo>
                  <a:lnTo>
                    <a:pt x="0" y="2470658"/>
                  </a:lnTo>
                  <a:lnTo>
                    <a:pt x="0" y="2369058"/>
                  </a:lnTo>
                  <a:close/>
                  <a:moveTo>
                    <a:pt x="0" y="2606167"/>
                  </a:moveTo>
                  <a:lnTo>
                    <a:pt x="0" y="2707767"/>
                  </a:lnTo>
                  <a:lnTo>
                    <a:pt x="0" y="2606167"/>
                  </a:lnTo>
                  <a:close/>
                  <a:moveTo>
                    <a:pt x="0" y="2843276"/>
                  </a:moveTo>
                  <a:lnTo>
                    <a:pt x="0" y="2944876"/>
                  </a:lnTo>
                  <a:lnTo>
                    <a:pt x="0" y="2843276"/>
                  </a:lnTo>
                  <a:close/>
                  <a:moveTo>
                    <a:pt x="0" y="3080385"/>
                  </a:moveTo>
                  <a:lnTo>
                    <a:pt x="0" y="3181985"/>
                  </a:lnTo>
                  <a:lnTo>
                    <a:pt x="0" y="3080385"/>
                  </a:lnTo>
                  <a:close/>
                  <a:moveTo>
                    <a:pt x="0" y="3317494"/>
                  </a:moveTo>
                  <a:lnTo>
                    <a:pt x="0" y="3419094"/>
                  </a:lnTo>
                  <a:lnTo>
                    <a:pt x="0" y="3317494"/>
                  </a:lnTo>
                  <a:close/>
                  <a:moveTo>
                    <a:pt x="0" y="3554603"/>
                  </a:moveTo>
                  <a:lnTo>
                    <a:pt x="0" y="3656203"/>
                  </a:lnTo>
                  <a:lnTo>
                    <a:pt x="0" y="3554603"/>
                  </a:lnTo>
                  <a:close/>
                  <a:moveTo>
                    <a:pt x="0" y="3791712"/>
                  </a:moveTo>
                  <a:lnTo>
                    <a:pt x="0" y="3893312"/>
                  </a:lnTo>
                  <a:lnTo>
                    <a:pt x="0" y="3791712"/>
                  </a:lnTo>
                  <a:close/>
                  <a:moveTo>
                    <a:pt x="0" y="4028821"/>
                  </a:moveTo>
                  <a:lnTo>
                    <a:pt x="0" y="4130421"/>
                  </a:lnTo>
                  <a:lnTo>
                    <a:pt x="0" y="4028821"/>
                  </a:lnTo>
                  <a:close/>
                  <a:moveTo>
                    <a:pt x="0" y="4265930"/>
                  </a:moveTo>
                  <a:lnTo>
                    <a:pt x="0" y="4367530"/>
                  </a:lnTo>
                  <a:lnTo>
                    <a:pt x="0" y="4265930"/>
                  </a:lnTo>
                  <a:close/>
                  <a:moveTo>
                    <a:pt x="0" y="4503039"/>
                  </a:moveTo>
                  <a:lnTo>
                    <a:pt x="0" y="4604639"/>
                  </a:lnTo>
                  <a:lnTo>
                    <a:pt x="0" y="4503039"/>
                  </a:lnTo>
                  <a:close/>
                  <a:moveTo>
                    <a:pt x="0" y="4740148"/>
                  </a:moveTo>
                  <a:lnTo>
                    <a:pt x="0" y="4841748"/>
                  </a:lnTo>
                  <a:lnTo>
                    <a:pt x="0" y="4740148"/>
                  </a:lnTo>
                  <a:close/>
                  <a:moveTo>
                    <a:pt x="0" y="4977257"/>
                  </a:moveTo>
                  <a:lnTo>
                    <a:pt x="0" y="5078857"/>
                  </a:lnTo>
                  <a:lnTo>
                    <a:pt x="0" y="4977257"/>
                  </a:lnTo>
                  <a:close/>
                  <a:moveTo>
                    <a:pt x="0" y="5214366"/>
                  </a:moveTo>
                  <a:lnTo>
                    <a:pt x="0" y="5315966"/>
                  </a:lnTo>
                  <a:lnTo>
                    <a:pt x="0" y="5214366"/>
                  </a:lnTo>
                  <a:close/>
                  <a:moveTo>
                    <a:pt x="0" y="5451475"/>
                  </a:moveTo>
                  <a:lnTo>
                    <a:pt x="0" y="5553075"/>
                  </a:lnTo>
                  <a:lnTo>
                    <a:pt x="0" y="5451475"/>
                  </a:lnTo>
                  <a:close/>
                  <a:moveTo>
                    <a:pt x="0" y="5688584"/>
                  </a:moveTo>
                  <a:lnTo>
                    <a:pt x="0" y="5790184"/>
                  </a:lnTo>
                  <a:lnTo>
                    <a:pt x="0" y="5688584"/>
                  </a:lnTo>
                  <a:close/>
                  <a:moveTo>
                    <a:pt x="0" y="5925693"/>
                  </a:moveTo>
                  <a:lnTo>
                    <a:pt x="0" y="6027293"/>
                  </a:lnTo>
                  <a:lnTo>
                    <a:pt x="0" y="5925693"/>
                  </a:lnTo>
                  <a:close/>
                  <a:moveTo>
                    <a:pt x="0" y="6162802"/>
                  </a:moveTo>
                  <a:lnTo>
                    <a:pt x="0" y="6264402"/>
                  </a:lnTo>
                  <a:lnTo>
                    <a:pt x="0" y="6162802"/>
                  </a:lnTo>
                  <a:close/>
                  <a:moveTo>
                    <a:pt x="0" y="6399911"/>
                  </a:moveTo>
                  <a:lnTo>
                    <a:pt x="0" y="6501511"/>
                  </a:lnTo>
                  <a:lnTo>
                    <a:pt x="0" y="6399911"/>
                  </a:lnTo>
                  <a:close/>
                  <a:moveTo>
                    <a:pt x="0" y="6637020"/>
                  </a:moveTo>
                  <a:lnTo>
                    <a:pt x="0" y="6738620"/>
                  </a:lnTo>
                  <a:lnTo>
                    <a:pt x="0" y="6637020"/>
                  </a:lnTo>
                  <a:close/>
                  <a:moveTo>
                    <a:pt x="0" y="6874129"/>
                  </a:moveTo>
                  <a:lnTo>
                    <a:pt x="0" y="6975729"/>
                  </a:lnTo>
                  <a:lnTo>
                    <a:pt x="0" y="6874129"/>
                  </a:lnTo>
                  <a:close/>
                  <a:moveTo>
                    <a:pt x="0" y="7111238"/>
                  </a:moveTo>
                  <a:lnTo>
                    <a:pt x="0" y="7212838"/>
                  </a:lnTo>
                  <a:lnTo>
                    <a:pt x="0" y="7111238"/>
                  </a:lnTo>
                  <a:close/>
                  <a:moveTo>
                    <a:pt x="0" y="7348347"/>
                  </a:moveTo>
                  <a:lnTo>
                    <a:pt x="0" y="7449947"/>
                  </a:lnTo>
                  <a:lnTo>
                    <a:pt x="0" y="7348347"/>
                  </a:lnTo>
                  <a:close/>
                  <a:moveTo>
                    <a:pt x="0" y="7585456"/>
                  </a:moveTo>
                  <a:lnTo>
                    <a:pt x="0" y="7687056"/>
                  </a:lnTo>
                  <a:lnTo>
                    <a:pt x="0" y="7585456"/>
                  </a:lnTo>
                  <a:close/>
                  <a:moveTo>
                    <a:pt x="0" y="7822565"/>
                  </a:moveTo>
                  <a:lnTo>
                    <a:pt x="0" y="7924165"/>
                  </a:lnTo>
                  <a:lnTo>
                    <a:pt x="0" y="7822565"/>
                  </a:lnTo>
                  <a:close/>
                  <a:moveTo>
                    <a:pt x="0" y="8059674"/>
                  </a:moveTo>
                  <a:lnTo>
                    <a:pt x="0" y="8161274"/>
                  </a:lnTo>
                  <a:lnTo>
                    <a:pt x="0" y="8059674"/>
                  </a:lnTo>
                  <a:close/>
                  <a:moveTo>
                    <a:pt x="0" y="8296783"/>
                  </a:moveTo>
                  <a:lnTo>
                    <a:pt x="0" y="8398383"/>
                  </a:lnTo>
                  <a:lnTo>
                    <a:pt x="0" y="8296783"/>
                  </a:lnTo>
                  <a:close/>
                  <a:moveTo>
                    <a:pt x="0" y="8533892"/>
                  </a:moveTo>
                  <a:lnTo>
                    <a:pt x="0" y="8635492"/>
                  </a:lnTo>
                  <a:lnTo>
                    <a:pt x="0" y="8533892"/>
                  </a:lnTo>
                  <a:close/>
                  <a:moveTo>
                    <a:pt x="0" y="8771001"/>
                  </a:moveTo>
                  <a:lnTo>
                    <a:pt x="0" y="8872601"/>
                  </a:lnTo>
                  <a:lnTo>
                    <a:pt x="0" y="8771001"/>
                  </a:lnTo>
                  <a:close/>
                  <a:moveTo>
                    <a:pt x="0" y="9008110"/>
                  </a:moveTo>
                  <a:lnTo>
                    <a:pt x="0" y="9109710"/>
                  </a:lnTo>
                  <a:lnTo>
                    <a:pt x="0" y="9008110"/>
                  </a:lnTo>
                  <a:close/>
                  <a:moveTo>
                    <a:pt x="0" y="9245219"/>
                  </a:moveTo>
                  <a:lnTo>
                    <a:pt x="0" y="9346819"/>
                  </a:lnTo>
                  <a:lnTo>
                    <a:pt x="0" y="9245219"/>
                  </a:lnTo>
                  <a:close/>
                  <a:moveTo>
                    <a:pt x="0" y="9482328"/>
                  </a:moveTo>
                  <a:lnTo>
                    <a:pt x="0" y="9583928"/>
                  </a:lnTo>
                  <a:lnTo>
                    <a:pt x="0" y="9482328"/>
                  </a:lnTo>
                  <a:close/>
                  <a:moveTo>
                    <a:pt x="0" y="9719437"/>
                  </a:moveTo>
                  <a:lnTo>
                    <a:pt x="0" y="9821037"/>
                  </a:lnTo>
                  <a:lnTo>
                    <a:pt x="0" y="9719437"/>
                  </a:lnTo>
                  <a:close/>
                  <a:moveTo>
                    <a:pt x="0" y="9956546"/>
                  </a:moveTo>
                  <a:lnTo>
                    <a:pt x="0" y="10058146"/>
                  </a:lnTo>
                  <a:lnTo>
                    <a:pt x="0" y="9956546"/>
                  </a:lnTo>
                  <a:close/>
                  <a:moveTo>
                    <a:pt x="0" y="10193655"/>
                  </a:moveTo>
                  <a:lnTo>
                    <a:pt x="0" y="10295255"/>
                  </a:lnTo>
                  <a:lnTo>
                    <a:pt x="0" y="10193655"/>
                  </a:lnTo>
                  <a:close/>
                  <a:moveTo>
                    <a:pt x="0" y="10430764"/>
                  </a:moveTo>
                  <a:lnTo>
                    <a:pt x="0" y="10532364"/>
                  </a:lnTo>
                  <a:lnTo>
                    <a:pt x="0" y="10430764"/>
                  </a:lnTo>
                  <a:close/>
                  <a:moveTo>
                    <a:pt x="0" y="10667873"/>
                  </a:moveTo>
                  <a:lnTo>
                    <a:pt x="0" y="10769473"/>
                  </a:lnTo>
                  <a:lnTo>
                    <a:pt x="0" y="10667873"/>
                  </a:lnTo>
                  <a:close/>
                  <a:moveTo>
                    <a:pt x="0" y="10904982"/>
                  </a:moveTo>
                  <a:lnTo>
                    <a:pt x="0" y="11006582"/>
                  </a:lnTo>
                  <a:lnTo>
                    <a:pt x="0" y="10904982"/>
                  </a:lnTo>
                  <a:close/>
                  <a:moveTo>
                    <a:pt x="0" y="11142091"/>
                  </a:moveTo>
                  <a:lnTo>
                    <a:pt x="0" y="11216640"/>
                  </a:lnTo>
                  <a:lnTo>
                    <a:pt x="0" y="11142091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9EA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39240" y="2819400"/>
            <a:ext cx="2590800" cy="30480"/>
            <a:chOff x="0" y="0"/>
            <a:chExt cx="3454400" cy="40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0320" y="0"/>
              <a:ext cx="3413760" cy="40640"/>
            </a:xfrm>
            <a:custGeom>
              <a:avLst/>
              <a:gdLst/>
              <a:ahLst/>
              <a:cxnLst/>
              <a:rect r="r" b="b" t="t" l="l"/>
              <a:pathLst>
                <a:path h="40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078224" y="2667000"/>
            <a:ext cx="365760" cy="365760"/>
            <a:chOff x="0" y="0"/>
            <a:chExt cx="48768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45920" y="2359152"/>
            <a:ext cx="2377440" cy="402336"/>
            <a:chOff x="0" y="0"/>
            <a:chExt cx="316992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69920" cy="536448"/>
            </a:xfrm>
            <a:custGeom>
              <a:avLst/>
              <a:gdLst/>
              <a:ahLst/>
              <a:cxnLst/>
              <a:rect r="r" b="b" t="t" l="l"/>
              <a:pathLst>
                <a:path h="53644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169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string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099560" y="3642360"/>
            <a:ext cx="2499360" cy="30480"/>
            <a:chOff x="0" y="0"/>
            <a:chExt cx="3332480" cy="40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0320" y="0"/>
              <a:ext cx="3291840" cy="40640"/>
            </a:xfrm>
            <a:custGeom>
              <a:avLst/>
              <a:gdLst/>
              <a:ahLst/>
              <a:cxnLst/>
              <a:rect r="r" b="b" t="t" l="l"/>
              <a:pathLst>
                <a:path h="40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492240" y="3489960"/>
            <a:ext cx="365760" cy="365760"/>
            <a:chOff x="0" y="0"/>
            <a:chExt cx="487680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206240" y="3182112"/>
            <a:ext cx="2286000" cy="402336"/>
            <a:chOff x="0" y="0"/>
            <a:chExt cx="3048000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init_lexer(input)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099560" y="4465320"/>
            <a:ext cx="4968240" cy="30480"/>
            <a:chOff x="0" y="0"/>
            <a:chExt cx="6624320" cy="40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20320" y="0"/>
              <a:ext cx="6583680" cy="40640"/>
            </a:xfrm>
            <a:custGeom>
              <a:avLst/>
              <a:gdLst/>
              <a:ahLst/>
              <a:cxnLst/>
              <a:rect r="r" b="b" t="t" l="l"/>
              <a:pathLst>
                <a:path h="40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037320" y="4358640"/>
            <a:ext cx="365760" cy="365760"/>
            <a:chOff x="0" y="0"/>
            <a:chExt cx="48768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206240" y="4005072"/>
            <a:ext cx="4754880" cy="402336"/>
            <a:chOff x="0" y="0"/>
            <a:chExt cx="633984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39840" cy="536448"/>
            </a:xfrm>
            <a:custGeom>
              <a:avLst/>
              <a:gdLst/>
              <a:ahLst/>
              <a:cxnLst/>
              <a:rect r="r" b="b" t="t" l="l"/>
              <a:pathLst>
                <a:path h="5364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parse_expression()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568440" y="5288280"/>
            <a:ext cx="2499360" cy="30480"/>
            <a:chOff x="0" y="0"/>
            <a:chExt cx="3332480" cy="40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0320" y="0"/>
              <a:ext cx="3291840" cy="40640"/>
            </a:xfrm>
            <a:custGeom>
              <a:avLst/>
              <a:gdLst/>
              <a:ahLst/>
              <a:cxnLst/>
              <a:rect r="r" b="b" t="t" l="l"/>
              <a:pathLst>
                <a:path h="40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961120" y="5143500"/>
            <a:ext cx="365760" cy="365760"/>
            <a:chOff x="0" y="0"/>
            <a:chExt cx="487680" cy="487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675120" y="4828032"/>
            <a:ext cx="2286000" cy="402336"/>
            <a:chOff x="0" y="0"/>
            <a:chExt cx="304800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get_next_token()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099560" y="6385560"/>
            <a:ext cx="7437120" cy="30480"/>
            <a:chOff x="0" y="0"/>
            <a:chExt cx="9916160" cy="40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20320" y="0"/>
              <a:ext cx="9875520" cy="40640"/>
            </a:xfrm>
            <a:custGeom>
              <a:avLst/>
              <a:gdLst/>
              <a:ahLst/>
              <a:cxnLst/>
              <a:rect r="r" b="b" t="t" l="l"/>
              <a:pathLst>
                <a:path h="40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430000" y="6233160"/>
            <a:ext cx="365760" cy="365760"/>
            <a:chOff x="0" y="0"/>
            <a:chExt cx="487680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4206240" y="5925312"/>
            <a:ext cx="7223760" cy="402336"/>
            <a:chOff x="0" y="0"/>
            <a:chExt cx="963168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evaluate(root)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06200" y="7208520"/>
            <a:ext cx="2499360" cy="30480"/>
            <a:chOff x="0" y="0"/>
            <a:chExt cx="3332480" cy="40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20320" y="0"/>
              <a:ext cx="3291840" cy="40640"/>
            </a:xfrm>
            <a:custGeom>
              <a:avLst/>
              <a:gdLst/>
              <a:ahLst/>
              <a:cxnLst/>
              <a:rect r="r" b="b" t="t" l="l"/>
              <a:pathLst>
                <a:path h="40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898880" y="7056882"/>
            <a:ext cx="365760" cy="365760"/>
            <a:chOff x="0" y="0"/>
            <a:chExt cx="487680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612880" y="6748272"/>
            <a:ext cx="2286000" cy="402336"/>
            <a:chOff x="0" y="0"/>
            <a:chExt cx="304800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symtable_get(name)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506200" y="7940040"/>
            <a:ext cx="2499360" cy="30480"/>
            <a:chOff x="0" y="0"/>
            <a:chExt cx="3332480" cy="40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20320" y="0"/>
              <a:ext cx="3291840" cy="40640"/>
            </a:xfrm>
            <a:custGeom>
              <a:avLst/>
              <a:gdLst/>
              <a:ahLst/>
              <a:cxnLst/>
              <a:rect r="r" b="b" t="t" l="l"/>
              <a:pathLst>
                <a:path h="40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975080" y="7787640"/>
            <a:ext cx="365760" cy="365760"/>
            <a:chOff x="0" y="0"/>
            <a:chExt cx="487680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612880" y="7479792"/>
            <a:ext cx="2286000" cy="402336"/>
            <a:chOff x="0" y="0"/>
            <a:chExt cx="3048000" cy="536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4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04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double value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4099560" y="8763000"/>
            <a:ext cx="7437120" cy="30480"/>
            <a:chOff x="0" y="0"/>
            <a:chExt cx="9916160" cy="40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20320" y="0"/>
              <a:ext cx="9875520" cy="40640"/>
            </a:xfrm>
            <a:custGeom>
              <a:avLst/>
              <a:gdLst/>
              <a:ahLst/>
              <a:cxnLst/>
              <a:rect r="r" b="b" t="t" l="l"/>
              <a:pathLst>
                <a:path h="40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484864" y="8610600"/>
            <a:ext cx="365760" cy="365760"/>
            <a:chOff x="0" y="0"/>
            <a:chExt cx="487680" cy="4876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206240" y="8302752"/>
            <a:ext cx="7223760" cy="402336"/>
            <a:chOff x="0" y="0"/>
            <a:chExt cx="9631680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631680" cy="536448"/>
            </a:xfrm>
            <a:custGeom>
              <a:avLst/>
              <a:gdLst/>
              <a:ahLst/>
              <a:cxnLst/>
              <a:rect r="r" b="b" t="t" l="l"/>
              <a:pathLst>
                <a:path h="536448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844" r="0" b="-29984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 double result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539240" y="9585960"/>
            <a:ext cx="2590800" cy="30480"/>
            <a:chOff x="0" y="0"/>
            <a:chExt cx="3454400" cy="406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20320" y="0"/>
              <a:ext cx="3413760" cy="40640"/>
            </a:xfrm>
            <a:custGeom>
              <a:avLst/>
              <a:gdLst/>
              <a:ahLst/>
              <a:cxnLst/>
              <a:rect r="r" b="b" t="t" l="l"/>
              <a:pathLst>
                <a:path h="40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4078224" y="9433560"/>
            <a:ext cx="365760" cy="365760"/>
            <a:chOff x="0" y="0"/>
            <a:chExt cx="487680" cy="4876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645920" y="9125712"/>
            <a:ext cx="2377440" cy="402336"/>
            <a:chOff x="0" y="0"/>
            <a:chExt cx="316992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169920" cy="536448"/>
            </a:xfrm>
            <a:custGeom>
              <a:avLst/>
              <a:gdLst/>
              <a:ahLst/>
              <a:cxnLst/>
              <a:rect r="r" b="b" t="t" l="l"/>
              <a:pathLst>
                <a:path h="53644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3169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496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printf(result)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292" y="-64008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Interfaz de Usuario — REPL de Consola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804158"/>
            <a:ext cx="10789920" cy="9355846"/>
            <a:chOff x="0" y="0"/>
            <a:chExt cx="14386560" cy="1247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6561" cy="12474448"/>
            </a:xfrm>
            <a:custGeom>
              <a:avLst/>
              <a:gdLst/>
              <a:ahLst/>
              <a:cxnLst/>
              <a:rect r="r" b="b" t="t" l="l"/>
              <a:pathLst>
                <a:path h="1247444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2474448"/>
                  </a:lnTo>
                  <a:lnTo>
                    <a:pt x="0" y="1247444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804158"/>
            <a:ext cx="10789920" cy="671579"/>
            <a:chOff x="0" y="0"/>
            <a:chExt cx="14386560" cy="8954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86561" cy="895477"/>
            </a:xfrm>
            <a:custGeom>
              <a:avLst/>
              <a:gdLst/>
              <a:ahLst/>
              <a:cxnLst/>
              <a:rect r="r" b="b" t="t" l="l"/>
              <a:pathLst>
                <a:path h="895477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5477"/>
                  </a:lnTo>
                  <a:lnTo>
                    <a:pt x="0" y="895477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890511"/>
            <a:ext cx="10241280" cy="475488"/>
            <a:chOff x="0" y="0"/>
            <a:chExt cx="13655040" cy="633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55039" cy="633984"/>
            </a:xfrm>
            <a:custGeom>
              <a:avLst/>
              <a:gdLst/>
              <a:ahLst/>
              <a:cxnLst/>
              <a:rect r="r" b="b" t="t" l="l"/>
              <a:pathLst>
                <a:path h="633984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655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AAAA"/>
                  </a:solidFill>
                  <a:latin typeface="Consolas"/>
                  <a:ea typeface="Consolas"/>
                  <a:cs typeface="Consolas"/>
                  <a:sym typeface="Consolas"/>
                </a:rPr>
                <a:t>● ● ●   eval_math — bash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1494015"/>
            <a:ext cx="10149840" cy="3214621"/>
            <a:chOff x="0" y="0"/>
            <a:chExt cx="13533120" cy="42861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33120" cy="4286166"/>
            </a:xfrm>
            <a:custGeom>
              <a:avLst/>
              <a:gdLst/>
              <a:ahLst/>
              <a:cxnLst/>
              <a:rect r="r" b="b" t="t" l="l"/>
              <a:pathLst>
                <a:path h="428616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4286166"/>
                  </a:lnTo>
                  <a:lnTo>
                    <a:pt x="0" y="4286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22" r="0" b="-11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533120" cy="4333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====================================================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   Mini Evaluador de Expresiones Algebraicas (P11)  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====================================================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Escribe una expresión (ej. a = 5 * sin(pi/2))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Comandos especiales: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  list   - Muestra las variables definidas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  quit   - Sale del programa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  deg    - Cambia el modo a Grados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  rad    - Cambia el modo a Radianes (por defecto)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====================================================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650229"/>
            <a:ext cx="10149840" cy="438912"/>
            <a:chOff x="0" y="0"/>
            <a:chExt cx="1353312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sin(pi/2)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5107429"/>
            <a:ext cx="10149840" cy="438912"/>
            <a:chOff x="0" y="0"/>
            <a:chExt cx="135331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= 1.000000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5564629"/>
            <a:ext cx="10149840" cy="438912"/>
            <a:chOff x="0" y="0"/>
            <a:chExt cx="135331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x = 3.5 + pi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6021829"/>
            <a:ext cx="10149840" cy="438912"/>
            <a:chOff x="0" y="0"/>
            <a:chExt cx="1353312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= 6.641593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6479029"/>
            <a:ext cx="10149840" cy="438912"/>
            <a:chOff x="0" y="0"/>
            <a:chExt cx="1353312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deg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6936229"/>
            <a:ext cx="10149840" cy="438912"/>
            <a:chOff x="0" y="0"/>
            <a:chExt cx="1353312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D700"/>
                  </a:solidFill>
                  <a:latin typeface="Consolas"/>
                  <a:ea typeface="Consolas"/>
                  <a:cs typeface="Consolas"/>
                  <a:sym typeface="Consolas"/>
                </a:rPr>
                <a:t>[Modo: Grados]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7393429"/>
            <a:ext cx="10149840" cy="438912"/>
            <a:chOff x="0" y="0"/>
            <a:chExt cx="1353312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sin(90)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7850629"/>
            <a:ext cx="10149840" cy="438912"/>
            <a:chOff x="0" y="0"/>
            <a:chExt cx="1353312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= 1.000000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8307829"/>
            <a:ext cx="10149840" cy="438912"/>
            <a:chOff x="0" y="0"/>
            <a:chExt cx="1353312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log(-5)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8765029"/>
            <a:ext cx="10149840" cy="438912"/>
            <a:chOff x="0" y="0"/>
            <a:chExt cx="13533120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6B6B"/>
                  </a:solidFill>
                  <a:latin typeface="Consolas"/>
                  <a:ea typeface="Consolas"/>
                  <a:cs typeface="Consolas"/>
                  <a:sym typeface="Consolas"/>
                </a:rPr>
                <a:t>Error: log de negativo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9222229"/>
            <a:ext cx="10149840" cy="438912"/>
            <a:chOff x="0" y="0"/>
            <a:chExt cx="1353312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rPr>
                <a:t>&gt; list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9679429"/>
            <a:ext cx="10149840" cy="438912"/>
            <a:chOff x="0" y="0"/>
            <a:chExt cx="135331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53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91" r="0" b="-40059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3533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FF99"/>
                  </a:solidFill>
                  <a:latin typeface="Consolas"/>
                  <a:ea typeface="Consolas"/>
                  <a:cs typeface="Consolas"/>
                  <a:sym typeface="Consolas"/>
                </a:rPr>
                <a:t>  x = 6.641593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704320" y="1645920"/>
            <a:ext cx="6035040" cy="8046720"/>
            <a:chOff x="0" y="0"/>
            <a:chExt cx="8046720" cy="10728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4672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704320" y="1645920"/>
            <a:ext cx="6035040" cy="128016"/>
            <a:chOff x="0" y="0"/>
            <a:chExt cx="8046720" cy="1706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46720" cy="170688"/>
            </a:xfrm>
            <a:custGeom>
              <a:avLst/>
              <a:gdLst/>
              <a:ahLst/>
              <a:cxnLst/>
              <a:rect r="r" b="b" t="t" l="l"/>
              <a:pathLst>
                <a:path h="1706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7200" y="1828800"/>
            <a:ext cx="5669280" cy="640080"/>
            <a:chOff x="0" y="0"/>
            <a:chExt cx="755904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559040" cy="853440"/>
            </a:xfrm>
            <a:custGeom>
              <a:avLst/>
              <a:gdLst/>
              <a:ahLst/>
              <a:cxnLst/>
              <a:rect r="r" b="b" t="t" l="l"/>
              <a:pathLst>
                <a:path h="853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75590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Comandos REPL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87200" y="2651760"/>
            <a:ext cx="1737360" cy="658368"/>
            <a:chOff x="0" y="0"/>
            <a:chExt cx="231648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0" y="2706624"/>
            <a:ext cx="1737360" cy="548640"/>
            <a:chOff x="0" y="0"/>
            <a:chExt cx="23164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list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16000" y="2706624"/>
            <a:ext cx="3840480" cy="548640"/>
            <a:chOff x="0" y="0"/>
            <a:chExt cx="512064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 variables guardadas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887200" y="3493008"/>
            <a:ext cx="1737360" cy="658368"/>
            <a:chOff x="0" y="0"/>
            <a:chExt cx="231648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887200" y="3547872"/>
            <a:ext cx="1737360" cy="548640"/>
            <a:chOff x="0" y="0"/>
            <a:chExt cx="231648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quit / exit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16000" y="3547872"/>
            <a:ext cx="3840480" cy="548640"/>
            <a:chOff x="0" y="0"/>
            <a:chExt cx="51206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Salir del evaluador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887200" y="4334256"/>
            <a:ext cx="1737360" cy="658368"/>
            <a:chOff x="0" y="0"/>
            <a:chExt cx="231648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887200" y="4389120"/>
            <a:ext cx="1737360" cy="548640"/>
            <a:chOff x="0" y="0"/>
            <a:chExt cx="23164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rad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716000" y="4389120"/>
            <a:ext cx="3840480" cy="548640"/>
            <a:chOff x="0" y="0"/>
            <a:chExt cx="512064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Cambiar a Radianes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87200" y="5175504"/>
            <a:ext cx="1737360" cy="658368"/>
            <a:chOff x="0" y="0"/>
            <a:chExt cx="2316480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887200" y="5230368"/>
            <a:ext cx="1737360" cy="548640"/>
            <a:chOff x="0" y="0"/>
            <a:chExt cx="231648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deg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716000" y="5230368"/>
            <a:ext cx="3840480" cy="548640"/>
            <a:chOff x="0" y="0"/>
            <a:chExt cx="512064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Cambiar a Grados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887200" y="6016752"/>
            <a:ext cx="1737360" cy="658368"/>
            <a:chOff x="0" y="0"/>
            <a:chExt cx="2316480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887200" y="6071616"/>
            <a:ext cx="1737360" cy="548640"/>
            <a:chOff x="0" y="0"/>
            <a:chExt cx="231648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a = expr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16000" y="6071616"/>
            <a:ext cx="3840480" cy="548640"/>
            <a:chOff x="0" y="0"/>
            <a:chExt cx="512064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Asignar variable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887200" y="6858000"/>
            <a:ext cx="1737360" cy="658368"/>
            <a:chOff x="0" y="0"/>
            <a:chExt cx="2316480" cy="8778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887200" y="6912864"/>
            <a:ext cx="1737360" cy="548640"/>
            <a:chOff x="0" y="0"/>
            <a:chExt cx="231648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sin(x)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716000" y="6912864"/>
            <a:ext cx="3840480" cy="548640"/>
            <a:chOff x="0" y="0"/>
            <a:chExt cx="51206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Funciones matemáticas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887200" y="7699248"/>
            <a:ext cx="1737360" cy="658368"/>
            <a:chOff x="0" y="0"/>
            <a:chExt cx="2316480" cy="8778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3A4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887200" y="7754112"/>
            <a:ext cx="1737360" cy="548640"/>
            <a:chOff x="0" y="0"/>
            <a:chExt cx="231648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2316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A8D3"/>
                  </a:solidFill>
                  <a:latin typeface="Consolas"/>
                  <a:ea typeface="Consolas"/>
                  <a:cs typeface="Consolas"/>
                  <a:sym typeface="Consolas"/>
                </a:rPr>
                <a:t>max(a,b)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716000" y="7754112"/>
            <a:ext cx="3840480" cy="548640"/>
            <a:chOff x="0" y="0"/>
            <a:chExt cx="512064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Funciones multi-arg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9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 de Prueba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1520" y="1645920"/>
          <a:ext cx="16814800" cy="8229600"/>
        </p:xfrm>
        <a:graphic>
          <a:graphicData uri="http://schemas.openxmlformats.org/drawingml/2006/table">
            <a:tbl>
              <a:tblPr/>
              <a:tblGrid>
                <a:gridCol w="5846439"/>
                <a:gridCol w="5484181"/>
                <a:gridCol w="5484181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Entrada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Salida Esperada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Categoría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+ 3 *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Precedencia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^ 3 ^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Asociatividad →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log(e)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Constantes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sin(pi/2)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Trigonometría rad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sin(90)  [modo deg]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Modo grados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max(10-2, 5*2)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Funciones multi-arg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sqrt(pow(3,2)+pow(4,2))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Composición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10.5 % 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Módulo flotante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-5 + 10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Unary minus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log(-5)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Error dominio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Error esperado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/ 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Error div/0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Error esperado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FA8D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256032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2194560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¡Gracias!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4389120"/>
            <a:ext cx="16459200" cy="822960"/>
            <a:chOff x="0" y="0"/>
            <a:chExt cx="219456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FA8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P11 — Mini Evaluador de Expresiones Algebraicas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5486400"/>
            <a:ext cx="9144000" cy="73152"/>
            <a:chOff x="0" y="0"/>
            <a:chExt cx="121920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97536"/>
            </a:xfrm>
            <a:custGeom>
              <a:avLst/>
              <a:gdLst/>
              <a:ahLst/>
              <a:cxnLst/>
              <a:rect r="r" b="b" t="t" l="l"/>
              <a:pathLst>
                <a:path h="9753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B49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5760720"/>
            <a:ext cx="16459200" cy="640080"/>
            <a:chOff x="0" y="0"/>
            <a:chExt cx="219456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B9E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Entregable 1 — Análisis y Diseño | Fundamentos de Intérpretes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8778240"/>
            <a:ext cx="16459200" cy="548640"/>
            <a:chOff x="0" y="0"/>
            <a:chExt cx="219456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B9E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github.com/felizmedioa/Proy_LP1_2026_1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DAHIA1NuGi0</dc:identifier>
  <dcterms:modified xsi:type="dcterms:W3CDTF">2011-08-01T06:04:30Z</dcterms:modified>
  <cp:revision>1</cp:revision>
  <dc:title>LP1.pptx</dc:title>
</cp:coreProperties>
</file>